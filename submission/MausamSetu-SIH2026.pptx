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jpg" ContentType="image/jpeg"/>
</Types>
</file>

<file path=_rels/.rels>&#65279;<?xml version="1.0" encoding="utf-8"?><Relationships xmlns="http://schemas.openxmlformats.org/package/2006/relationships"><Relationship Type="http://schemas.openxmlformats.org/package/2006/relationships/metadata/core-properties" Target="/docProps/core.xml" Id="Rdf70fcff616d4be1" /><Relationship Type="http://schemas.openxmlformats.org/officeDocument/2006/relationships/extended-properties" Target="/docProps/app.xml" Id="R3aa9cbd1e9f24f35" /><Relationship Type="http://schemas.openxmlformats.org/officeDocument/2006/relationships/officeDocument" Target="/ppt/presentation.xml" Id="R02c88678b8d94a97" /></Relationships>
</file>

<file path=ppt/presentation.xml><?xml version="1.0" encoding="utf-8"?>
<p:presentation xmlns:p="http://schemas.openxmlformats.org/presentationml/2006/main">
  <p:sldMasterIdLst>
    <p:sldMasterId xmlns:r="http://schemas.openxmlformats.org/officeDocument/2006/relationships" id="2147483648" r:id="Rd65fc6e746c34b7f"/>
  </p:sldMasterIdLst>
  <p:notesMasterIdLst>
    <p:notesMasterId xmlns:r="http://schemas.openxmlformats.org/officeDocument/2006/relationships" r:id="R001a7af7edaf4bbe"/>
  </p:notesMasterIdLst>
  <p:sldIdLst>
    <p:sldId xmlns:r="http://schemas.openxmlformats.org/officeDocument/2006/relationships" id="256" r:id="R132b92a4e8714e44"/>
    <p:sldId xmlns:r="http://schemas.openxmlformats.org/officeDocument/2006/relationships" id="257" r:id="R5c1af4b3f3ae445f"/>
    <p:sldId xmlns:r="http://schemas.openxmlformats.org/officeDocument/2006/relationships" id="258" r:id="R2a94e09b1a4341f1"/>
    <p:sldId xmlns:r="http://schemas.openxmlformats.org/officeDocument/2006/relationships" id="259" r:id="R6b6e1612743c404f"/>
    <p:sldId xmlns:r="http://schemas.openxmlformats.org/officeDocument/2006/relationships" id="260" r:id="R90d5eb012b7844cc"/>
    <p:sldId xmlns:r="http://schemas.openxmlformats.org/officeDocument/2006/relationships" id="261" r:id="R63669dbbddb9440d"/>
  </p:sldIdLst>
  <p:sldSz cx="12192000" cy="6858000"/>
  <p:notesSz cx="6858000" cy="9144000"/>
  <p:defaultTextStyle>
    <a:defPPr xmlns:a="http://schemas.openxmlformats.org/drawingml/2006/main">
      <a:buNone/>
    </a:defPPr>
    <a:lvl1pPr xmlns:a="http://schemas.openxmlformats.org/drawingml/2006/main" algn="l" defTabSz="457200">
      <a:spcBef>
        <a:spcPct val="0"/>
      </a:spcBef>
      <a:spcAft>
        <a:spcPct val="0"/>
      </a:spcAft>
      <a:buNone/>
      <a:defRPr kern="1200">
        <a:solidFill>
          <a:schemeClr val="tx1"/>
        </a:solidFill>
        <a:latin typeface="Calibri"/>
        <a:ea typeface="Calibri"/>
        <a:cs typeface="Calibri"/>
      </a:defRPr>
    </a:lvl1pPr>
    <a:lvl2pPr xmlns:a="http://schemas.openxmlformats.org/drawingml/2006/main" marL="457200" algn="l" defTabSz="457200">
      <a:spcBef>
        <a:spcPct val="0"/>
      </a:spcBef>
      <a:spcAft>
        <a:spcPct val="0"/>
      </a:spcAft>
      <a:buNone/>
      <a:defRPr kern="1200">
        <a:solidFill>
          <a:schemeClr val="tx1"/>
        </a:solidFill>
        <a:latin typeface="Calibri"/>
        <a:ea typeface="Calibri"/>
        <a:cs typeface="Calibri"/>
      </a:defRPr>
    </a:lvl2pPr>
    <a:lvl3pPr xmlns:a="http://schemas.openxmlformats.org/drawingml/2006/main" marL="914400" algn="l" defTabSz="457200">
      <a:spcBef>
        <a:spcPct val="0"/>
      </a:spcBef>
      <a:spcAft>
        <a:spcPct val="0"/>
      </a:spcAft>
      <a:buNone/>
      <a:defRPr kern="1200">
        <a:solidFill>
          <a:schemeClr val="tx1"/>
        </a:solidFill>
        <a:latin typeface="Calibri"/>
        <a:ea typeface="Calibri"/>
        <a:cs typeface="Calibri"/>
      </a:defRPr>
    </a:lvl3pPr>
    <a:lvl4pPr xmlns:a="http://schemas.openxmlformats.org/drawingml/2006/main" marL="1371600" algn="l" defTabSz="457200">
      <a:spcBef>
        <a:spcPct val="0"/>
      </a:spcBef>
      <a:spcAft>
        <a:spcPct val="0"/>
      </a:spcAft>
      <a:buNone/>
      <a:defRPr kern="1200">
        <a:solidFill>
          <a:schemeClr val="tx1"/>
        </a:solidFill>
        <a:latin typeface="Calibri"/>
        <a:ea typeface="Calibri"/>
        <a:cs typeface="Calibri"/>
      </a:defRPr>
    </a:lvl4pPr>
    <a:lvl5pPr xmlns:a="http://schemas.openxmlformats.org/drawingml/2006/main" marL="1828800" algn="l" defTabSz="457200">
      <a:spcBef>
        <a:spcPct val="0"/>
      </a:spcBef>
      <a:spcAft>
        <a:spcPct val="0"/>
      </a:spcAft>
      <a:buNone/>
      <a:defRPr kern="1200">
        <a:solidFill>
          <a:schemeClr val="tx1"/>
        </a:solidFill>
        <a:latin typeface="Calibri"/>
        <a:ea typeface="Calibri"/>
        <a:cs typeface="Calibri"/>
      </a:defRPr>
    </a:lvl5pPr>
    <a:lvl6pPr xmlns:a="http://schemas.openxmlformats.org/drawingml/2006/main" marL="2286000" algn="l" defTabSz="914400">
      <a:buNone/>
      <a:defRPr kern="1200">
        <a:solidFill>
          <a:schemeClr val="tx1"/>
        </a:solidFill>
        <a:latin typeface="Calibri"/>
        <a:ea typeface="Calibri"/>
        <a:cs typeface="Calibri"/>
      </a:defRPr>
    </a:lvl6pPr>
    <a:lvl7pPr xmlns:a="http://schemas.openxmlformats.org/drawingml/2006/main" marL="2743200" algn="l" defTabSz="914400">
      <a:buNone/>
      <a:defRPr kern="1200">
        <a:solidFill>
          <a:schemeClr val="tx1"/>
        </a:solidFill>
        <a:latin typeface="Calibri"/>
        <a:ea typeface="Calibri"/>
        <a:cs typeface="Calibri"/>
      </a:defRPr>
    </a:lvl7pPr>
    <a:lvl8pPr xmlns:a="http://schemas.openxmlformats.org/drawingml/2006/main" marL="3200400" algn="l" defTabSz="914400">
      <a:buNone/>
      <a:defRPr kern="1200">
        <a:solidFill>
          <a:schemeClr val="tx1"/>
        </a:solidFill>
        <a:latin typeface="Calibri"/>
        <a:ea typeface="Calibri"/>
        <a:cs typeface="Calibri"/>
      </a:defRPr>
    </a:lvl8pPr>
    <a:lvl9pPr xmlns:a="http://schemas.openxmlformats.org/drawingml/2006/main" marL="3657600" algn="l" defTabSz="914400">
      <a:buNone/>
      <a:defRPr kern="1200">
        <a:solidFill>
          <a:schemeClr val="tx1"/>
        </a:solidFill>
        <a:latin typeface="Calibri"/>
        <a:ea typeface="Calibri"/>
        <a:cs typeface="Calibri"/>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fac3916824d47ea" /><Relationship Type="http://schemas.openxmlformats.org/officeDocument/2006/relationships/slideMaster" Target="/ppt/slideMasters/slideMaster1.xml" Id="Rd65fc6e746c34b7f" /><Relationship Type="http://schemas.openxmlformats.org/officeDocument/2006/relationships/notesMaster" Target="/ppt/notesMasters/notesMaster1.xml" Id="R001a7af7edaf4bbe" /><Relationship Type="http://schemas.openxmlformats.org/officeDocument/2006/relationships/presProps" Target="/ppt/presProps.xml" Id="Rea644ee37d4946ec" /><Relationship Type="http://schemas.openxmlformats.org/officeDocument/2006/relationships/viewProps" Target="/ppt/viewProps.xml" Id="R7eac61998a0e4fb3" /><Relationship Type="http://schemas.openxmlformats.org/officeDocument/2006/relationships/tableStyles" Target="/ppt/tableStyles.xml" Id="R5e05d7cb69204b5d" /><Relationship Type="http://schemas.openxmlformats.org/officeDocument/2006/relationships/slide" Target="/ppt/slides/slide1.xml" Id="R132b92a4e8714e44" /><Relationship Type="http://schemas.openxmlformats.org/officeDocument/2006/relationships/slide" Target="/ppt/slides/slide2.xml" Id="R5c1af4b3f3ae445f" /><Relationship Type="http://schemas.openxmlformats.org/officeDocument/2006/relationships/slide" Target="/ppt/slides/slide3.xml" Id="R2a94e09b1a4341f1" /><Relationship Type="http://schemas.openxmlformats.org/officeDocument/2006/relationships/slide" Target="/ppt/slides/slide4.xml" Id="R6b6e1612743c404f" /><Relationship Type="http://schemas.openxmlformats.org/officeDocument/2006/relationships/slide" Target="/ppt/slides/slide5.xml" Id="R90d5eb012b7844cc" /><Relationship Type="http://schemas.openxmlformats.org/officeDocument/2006/relationships/slide" Target="/ppt/slides/slide6.xml" Id="R63669dbbddb944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59eb4d2c3a45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ffdeb654a842b7" /><Relationship Type="http://schemas.openxmlformats.org/officeDocument/2006/relationships/notesMaster" Target="/ppt/notesMasters/notesMaster1.xml" Id="Rbcabfb09fc4143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1f329ec0fa429f" /><Relationship Type="http://schemas.openxmlformats.org/officeDocument/2006/relationships/notesMaster" Target="/ppt/notesMasters/notesMaster1.xml" Id="R032d4d4bee17490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b7247e27c4475d" /><Relationship Type="http://schemas.openxmlformats.org/officeDocument/2006/relationships/notesMaster" Target="/ppt/notesMasters/notesMaster1.xml" Id="R43d13ad318c441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b6ecb0e231437c" /><Relationship Type="http://schemas.openxmlformats.org/officeDocument/2006/relationships/notesMaster" Target="/ppt/notesMasters/notesMaster1.xml" Id="R1ef218c7e17241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f2ca75ff574de3" /><Relationship Type="http://schemas.openxmlformats.org/officeDocument/2006/relationships/notesMaster" Target="/ppt/notesMasters/notesMaster1.xml" Id="R5323916b0b1b40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f1824d50774bd3" /><Relationship Type="http://schemas.openxmlformats.org/officeDocument/2006/relationships/notesMaster" Target="/ppt/notesMasters/notesMaster1.xml" Id="R349dc256c86c48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title corroborated against public SIH26081 listings. Official portal was unavailable during verification. Team ID and theme must match the team portal. Source template: user-supplied Problem Statement 2.pptx.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Current architecture and scientific status: https://mausamsetu-mauve.vercel.app/sih . Live roster uses an equal-weight deterministic baseline. Backfilled data may count as historical evidence but never prospective evidence. Regime classifier and operational adaptive skill are not claimed as accepted. Original solution diagram retained from supplied deck.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Implementation: repository outputs/mausamsetu and deployed service. References: https://nomads.ncep.noaa.gov/ ; https://www.ecmwf.int/en/forecasts/datasets/open-data ; https://gpm.nasa.gov/ ; https://imdpune.gov.in/ . The missing-source renormalization rule is a mechanism; its implementation does not imply scientific acceptance. GEFS published mean is not an individual-member distribution.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Observed deployment on 2026-09-28: Vercel frontend, OCI workers, public HTTPS gateway, private Tailscale SSH. MOSDAC 3SIMG_L2G_IMR contains satellite rain rates, not daily accumulations. Raw MOSDAC files stay private. OIDC and institutional distribution approvals remain external configuration. PostgreSQL is ordinary metadata storage, not a tamper-proof ledger. https://www.mosdac.gov.in/data-access-policy Update checked 2026-09-30: 9 IMD reports, latest window 2026-09-30T03:00:00+00:00. Source: https://api.140.245.4.200.sslip.io/public/status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Benefits are anticipated, not measured outcomes. Guidance remains experimental and does not replace official warnings. Current prototype: https://mausamsetu-mauve.vercel.app/ ; preparedness resources: https://mausamsetu-mauve.vercel.app/preparedness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Benchmark source: https://mausamsetu-mauve.vercel.app/data/learned-benchmark.json . Exact CRPS values: 0.5493621002156572 adaptive and 0.6164464643151205 equal mixture; relative reduction 10.88%. Calibration 2018; training 2019–2020; selection 2021; test 2022. 36 test initializations, 12 monthly bootstrap blocks. India bounding box includes adjacent countries and ocean. Upstream training not audited. Different source roster from live deployment; no production acceptance. Sources: https://weatherbench2.readthedocs.io/ ; https://cpc.ncep.noaa.gov/ ; https://gpm.nasa.gov/ ; https://imdpune.gov.in/ ; https://mosdac.gov.in/ ; https://rds.ncmrwf.gov.in/datasets ; https://ecds.ecmwf.int/ . Rainfall source: https://api.140.245.4.200.sslip.io/public/shadow-rain generated 2026-09-30T16:45:31.283148+00:00. CMORPH adaptive CRPS 1.737108844754547, equal 1.8110764331844271. IMERG adaptive 1.5490775850262901, equal 1.6303490958977416. 2 held-out blocks, 10 total, 2 prospective. Dedicated rainfall pipeline, distinct from multi-variable candidates. Not production accepted.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f56bdd4ef742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f8738c68bc34d9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c8fb11f77442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aee3051d7044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9cdefac3bec4a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ec7da59cde46c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a4889148cce42c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6a38022a5a448b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f2d8e9b169d4be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6ad9eacf50341b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5d67a8a4e3e4458"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9133541-C9FF-4C4E-B028-1C731391A161}"/>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4F1E906B-4BFB-4C9E-BB84-A5109CFAC171}"/>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7956F5EF-0283-4089-A66F-83D3EF8A72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9/28/2026</a:t>
            </a:fld>
            <a:endParaRPr/>
          </a:p>
        </p:txBody>
      </p:sp>
      <p:sp>
        <p:nvSpPr>
          <p:cNvPr id="5" name="Footer Placeholder 4">
            <a:extLst xmlns:a="http://schemas.openxmlformats.org/drawingml/2006/main">
              <a:ext uri="{FF2B5EF4-FFF2-40B4-BE49-F238E27FC236}">
                <a16:creationId xmlns:a16="http://schemas.microsoft.com/office/drawing/2014/main" id="{BD490E9A-5074-420A-952E-1FC05E0F442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6EC1841B-47A7-421A-B69D-B0FFD0D9EEC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0EFF1C6-B9E0-4B5A-BF30-E1D591895D1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C880242-A278-4D5A-A2D8-DAB712320CD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696FBC0-42EC-458B-AD07-5DDBF0F425E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9/28/2026</a:t>
            </a:fld>
            <a:endParaRPr/>
          </a:p>
        </p:txBody>
      </p:sp>
      <p:sp>
        <p:nvSpPr>
          <p:cNvPr id="5" name="Footer Placeholder 4">
            <a:extLst xmlns:a="http://schemas.openxmlformats.org/drawingml/2006/main">
              <a:ext uri="{FF2B5EF4-FFF2-40B4-BE49-F238E27FC236}">
                <a16:creationId xmlns:a16="http://schemas.microsoft.com/office/drawing/2014/main" id="{A4FFF18E-1FDC-4415-8F0A-07FD800A24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22B618F2-47B5-486E-A244-92C9398B400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0607330-2DA4-4827-886B-B5BA66E8EDB9}"/>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689FB8F-503E-4340-8564-A5CACFCF7C13}"/>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4DDE296-AA22-467D-8CAE-D9EEE48B0C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9/28/2026</a:t>
            </a:fld>
            <a:endParaRPr/>
          </a:p>
        </p:txBody>
      </p:sp>
      <p:sp>
        <p:nvSpPr>
          <p:cNvPr id="5" name="Footer Placeholder 4">
            <a:extLst xmlns:a="http://schemas.openxmlformats.org/drawingml/2006/main">
              <a:ext uri="{FF2B5EF4-FFF2-40B4-BE49-F238E27FC236}">
                <a16:creationId xmlns:a16="http://schemas.microsoft.com/office/drawing/2014/main" id="{8B8AE26A-BE52-48FD-A73B-D4869463B5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587CDA54-6617-4B95-84C0-1A9AD9DAED0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27789B7-52FA-4383-8F07-69C13CC1F2C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1FC1C49-35D3-413A-A637-EBBBE4981B68}"/>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2640B13-DC0F-4407-A306-90209769AFF5}"/>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BBDBBC04-DB05-4D94-8857-85D552A4F1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9/28/2026</a:t>
            </a:fld>
            <a:endParaRPr/>
          </a:p>
        </p:txBody>
      </p:sp>
      <p:sp>
        <p:nvSpPr>
          <p:cNvPr id="6" name="Footer Placeholder 4">
            <a:extLst xmlns:a="http://schemas.openxmlformats.org/drawingml/2006/main">
              <a:ext uri="{FF2B5EF4-FFF2-40B4-BE49-F238E27FC236}">
                <a16:creationId xmlns:a16="http://schemas.microsoft.com/office/drawing/2014/main" id="{4E3BB1D1-9FC8-47A2-9B1E-8320782A605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0D83BD0B-E8E2-4F1F-BB45-40E9C0E8669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4EF0336-74E4-4F57-BA3B-85FC2E1B5C7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2F47A34-908D-4E0C-9EC0-B47F6A63D466}"/>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25E37FD-54B9-46E8-A9A7-8EE52DFF043B}"/>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C64141F6-893A-4282-926F-261E64533757}"/>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8519346-44BA-4287-9F8E-9DCB521B548C}"/>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8626A04A-E9CA-47FC-9B6F-838607E8CBD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9/28/2026</a:t>
            </a:fld>
            <a:endParaRPr/>
          </a:p>
        </p:txBody>
      </p:sp>
      <p:sp>
        <p:nvSpPr>
          <p:cNvPr id="8" name="Footer Placeholder 4">
            <a:extLst xmlns:a="http://schemas.openxmlformats.org/drawingml/2006/main">
              <a:ext uri="{FF2B5EF4-FFF2-40B4-BE49-F238E27FC236}">
                <a16:creationId xmlns:a16="http://schemas.microsoft.com/office/drawing/2014/main" id="{031BF572-2B0D-4721-990B-E31801B4C2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451398F4-FA5E-455B-8037-7FA81EECFC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FEF5ED7-BF29-47D5-B73B-7B970388B2F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3742C313-73CA-4FF0-89F1-4A6F7DAAE4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9/28/2026</a:t>
            </a:fld>
            <a:endParaRPr/>
          </a:p>
        </p:txBody>
      </p:sp>
      <p:sp>
        <p:nvSpPr>
          <p:cNvPr id="4" name="Footer Placeholder 4">
            <a:extLst xmlns:a="http://schemas.openxmlformats.org/drawingml/2006/main">
              <a:ext uri="{FF2B5EF4-FFF2-40B4-BE49-F238E27FC236}">
                <a16:creationId xmlns:a16="http://schemas.microsoft.com/office/drawing/2014/main" id="{B9597F1D-D471-49F0-A7B7-6B8289893C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F976E0DB-5684-46A0-9AAC-C4F1439855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54B1B684-7ABC-4933-A154-248DF8E9752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9/28/2026</a:t>
            </a:fld>
            <a:endParaRPr/>
          </a:p>
        </p:txBody>
      </p:sp>
      <p:sp>
        <p:nvSpPr>
          <p:cNvPr id="3" name="Footer Placeholder 4">
            <a:extLst xmlns:a="http://schemas.openxmlformats.org/drawingml/2006/main">
              <a:ext uri="{FF2B5EF4-FFF2-40B4-BE49-F238E27FC236}">
                <a16:creationId xmlns:a16="http://schemas.microsoft.com/office/drawing/2014/main" id="{367F38A6-D17D-483F-AE09-AEC0D006799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AF86AE1D-C18B-4B03-887F-C6C9286D9E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580D74F-8317-4F9C-B0AC-BD98016B480F}"/>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3DF87E9-46CC-4ECA-9860-9F8114F23DF8}"/>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A48FC21C-DCAD-43AD-820D-9002B268E197}"/>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48FAB26A-10D0-4EAA-BD1B-B777630D87F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9/28/2026</a:t>
            </a:fld>
            <a:endParaRPr/>
          </a:p>
        </p:txBody>
      </p:sp>
      <p:sp>
        <p:nvSpPr>
          <p:cNvPr id="6" name="Footer Placeholder 4">
            <a:extLst xmlns:a="http://schemas.openxmlformats.org/drawingml/2006/main">
              <a:ext uri="{FF2B5EF4-FFF2-40B4-BE49-F238E27FC236}">
                <a16:creationId xmlns:a16="http://schemas.microsoft.com/office/drawing/2014/main" id="{23A4A737-2638-46E0-9F49-636340DA04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68429BC4-CC04-439A-863D-891124F52F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1CB707D-CA9F-432C-B979-3BDC45E0B7A0}"/>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16DB6D74-703B-48A8-AF51-0C66A0B83995}"/>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28690566-96F5-4794-9DAF-A1CA9A32947D}"/>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153F37FA-46D7-4081-9763-236CB789316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9/28/2026</a:t>
            </a:fld>
            <a:endParaRPr/>
          </a:p>
        </p:txBody>
      </p:sp>
      <p:sp>
        <p:nvSpPr>
          <p:cNvPr id="6" name="Footer Placeholder 4">
            <a:extLst xmlns:a="http://schemas.openxmlformats.org/drawingml/2006/main">
              <a:ext uri="{FF2B5EF4-FFF2-40B4-BE49-F238E27FC236}">
                <a16:creationId xmlns:a16="http://schemas.microsoft.com/office/drawing/2014/main" id="{3DA390FF-E3CA-4BC1-AEDD-4EE7A132A56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66F2181E-D885-4AA4-BB5E-D77E9FE094C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1E43DB-F020-4C03-A6AB-9ACC1974135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6E97766-C3BF-41A9-A69D-3041BD6DB03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E9734E0-59EC-4AD2-9AC9-4CE3934AE4D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9/28/2026</a:t>
            </a:fld>
            <a:endParaRPr/>
          </a:p>
        </p:txBody>
      </p:sp>
      <p:sp>
        <p:nvSpPr>
          <p:cNvPr id="5" name="Footer Placeholder 4">
            <a:extLst xmlns:a="http://schemas.openxmlformats.org/drawingml/2006/main">
              <a:ext uri="{FF2B5EF4-FFF2-40B4-BE49-F238E27FC236}">
                <a16:creationId xmlns:a16="http://schemas.microsoft.com/office/drawing/2014/main" id="{6409FD10-74B5-48D3-B68C-FC2FA48FC73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3F9D60A2-28A3-49EA-846E-A05B63B481D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94B7D237-D7B5-4EA2-8E4A-5E90E4806836}"/>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DA3A6D8-243B-4D06-9FB2-66BFA734223A}"/>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09EB0C2-C25D-4BE8-B520-7E383B5777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9/28/2026</a:t>
            </a:fld>
            <a:endParaRPr/>
          </a:p>
        </p:txBody>
      </p:sp>
      <p:sp>
        <p:nvSpPr>
          <p:cNvPr id="5" name="Footer Placeholder 4">
            <a:extLst xmlns:a="http://schemas.openxmlformats.org/drawingml/2006/main">
              <a:ext uri="{FF2B5EF4-FFF2-40B4-BE49-F238E27FC236}">
                <a16:creationId xmlns:a16="http://schemas.microsoft.com/office/drawing/2014/main" id="{DEF92C63-11A3-4968-8FD3-4D81C967A2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D47C519D-92EF-4650-A5DC-6DB5CD464C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9658b2af1e4296" /><Relationship Type="http://schemas.openxmlformats.org/officeDocument/2006/relationships/slideLayout" Target="/ppt/slideLayouts/slideLayout1.xml" Id="R3558627cc4fb4274" /><Relationship Type="http://schemas.openxmlformats.org/officeDocument/2006/relationships/slideLayout" Target="/ppt/slideLayouts/slideLayout2.xml" Id="R4120b19b3e22407b" /><Relationship Type="http://schemas.openxmlformats.org/officeDocument/2006/relationships/slideLayout" Target="/ppt/slideLayouts/slideLayout3.xml" Id="R6e8c4d65d42b4229" /><Relationship Type="http://schemas.openxmlformats.org/officeDocument/2006/relationships/slideLayout" Target="/ppt/slideLayouts/slideLayout4.xml" Id="R451a8831acc0412f" /><Relationship Type="http://schemas.openxmlformats.org/officeDocument/2006/relationships/slideLayout" Target="/ppt/slideLayouts/slideLayout5.xml" Id="R301798eb62d446d8" /><Relationship Type="http://schemas.openxmlformats.org/officeDocument/2006/relationships/slideLayout" Target="/ppt/slideLayouts/slideLayout6.xml" Id="R0da4756f2e8e409d" /><Relationship Type="http://schemas.openxmlformats.org/officeDocument/2006/relationships/slideLayout" Target="/ppt/slideLayouts/slideLayout7.xml" Id="R78f8f74604d840d2" /><Relationship Type="http://schemas.openxmlformats.org/officeDocument/2006/relationships/slideLayout" Target="/ppt/slideLayouts/slideLayout8.xml" Id="Ra27f1ad9b14b4b18" /><Relationship Type="http://schemas.openxmlformats.org/officeDocument/2006/relationships/slideLayout" Target="/ppt/slideLayouts/slideLayout9.xml" Id="R3c43e7a2bff149a5" /><Relationship Type="http://schemas.openxmlformats.org/officeDocument/2006/relationships/slideLayout" Target="/ppt/slideLayouts/slideLayout10.xml" Id="Rd548263dc17a4ef8" /><Relationship Type="http://schemas.openxmlformats.org/officeDocument/2006/relationships/slideLayout" Target="/ppt/slideLayouts/slideLayout11.xml" Id="R7e76f7b6d75b446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7D1C471B-6EFC-45FD-8909-1AD6E979C458}"/>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C81FECDD-AB7D-424C-84D1-DCCB9DEA3597}"/>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miter/>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C350938-8154-44A2-A83C-75A6F33FBF0E}"/>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9/28/2026</a:t>
            </a:fld>
            <a:endParaRPr/>
          </a:p>
        </p:txBody>
      </p:sp>
      <p:sp>
        <p:nvSpPr>
          <p:cNvPr id="5" name="Footer Placeholder 4">
            <a:extLst xmlns:a="http://schemas.openxmlformats.org/drawingml/2006/main">
              <a:ext uri="{FF2B5EF4-FFF2-40B4-BE49-F238E27FC236}">
                <a16:creationId xmlns:a16="http://schemas.microsoft.com/office/drawing/2014/main" id="{495B1C69-FD3F-45BE-B6B3-9BAFF360B31C}"/>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1D0713DE-A1BC-4D3C-9013-02383EA9D323}"/>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58627cc4fb4274"/>
    <p:sldLayoutId xmlns:r="http://schemas.openxmlformats.org/officeDocument/2006/relationships" id="2147483650" r:id="R4120b19b3e22407b"/>
    <p:sldLayoutId xmlns:r="http://schemas.openxmlformats.org/officeDocument/2006/relationships" id="2147483651" r:id="R6e8c4d65d42b4229"/>
    <p:sldLayoutId xmlns:r="http://schemas.openxmlformats.org/officeDocument/2006/relationships" id="2147483652" r:id="R451a8831acc0412f"/>
    <p:sldLayoutId xmlns:r="http://schemas.openxmlformats.org/officeDocument/2006/relationships" id="2147483653" r:id="R301798eb62d446d8"/>
    <p:sldLayoutId xmlns:r="http://schemas.openxmlformats.org/officeDocument/2006/relationships" id="2147483654" r:id="R0da4756f2e8e409d"/>
    <p:sldLayoutId xmlns:r="http://schemas.openxmlformats.org/officeDocument/2006/relationships" id="2147483655" r:id="R78f8f74604d840d2"/>
    <p:sldLayoutId xmlns:r="http://schemas.openxmlformats.org/officeDocument/2006/relationships" id="2147483656" r:id="Ra27f1ad9b14b4b18"/>
    <p:sldLayoutId xmlns:r="http://schemas.openxmlformats.org/officeDocument/2006/relationships" id="2147483657" r:id="R3c43e7a2bff149a5"/>
    <p:sldLayoutId xmlns:r="http://schemas.openxmlformats.org/officeDocument/2006/relationships" id="2147483658" r:id="Rd548263dc17a4ef8"/>
    <p:sldLayoutId xmlns:r="http://schemas.openxmlformats.org/officeDocument/2006/relationships" id="2147483659" r:id="R7e76f7b6d75b4463"/>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186dfcfa1f46f4" /><Relationship Type="http://schemas.openxmlformats.org/officeDocument/2006/relationships/image" Target="/ppt/media/image.png" Id="R1f2d7d50da0042af" /><Relationship Type="http://schemas.openxmlformats.org/officeDocument/2006/relationships/image" Target="/ppt/media/image2.png" Id="R0883287484d74633" /><Relationship Type="http://schemas.openxmlformats.org/officeDocument/2006/relationships/notesSlide" Target="/ppt/notesSlides/notesSlide1.xml" Id="R63eb558b965c4392"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2.xml" Id="R3d1e1379496c49a0"/><Relationship Type="http://schemas.openxmlformats.org/officeDocument/2006/relationships/image" Target="/ppt/media/image3.png" Id="R1f59cd40b34847b1"/><Relationship Type="http://schemas.openxmlformats.org/officeDocument/2006/relationships/image" Target="/ppt/media/image4.png" Id="Ra6301e80043e4aec"/><Relationship Type="http://schemas.openxmlformats.org/officeDocument/2006/relationships/notesSlide" Target="/ppt/notesSlides/notesSlide2.xml" Id="R5ccb7b0f37be45de"/><Relationship Id="rIdTemplateLogo2" Type="http://schemas.openxmlformats.org/officeDocument/2006/relationships/image" Target="../media/template-logo-2.jpg"/></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2.xml" Id="Rfd72e95b36f7432b"/><Relationship Type="http://schemas.openxmlformats.org/officeDocument/2006/relationships/image" Target="/ppt/media/image5.png" Id="R48c7174cd97c484e"/><Relationship Type="http://schemas.openxmlformats.org/officeDocument/2006/relationships/notesSlide" Target="/ppt/notesSlides/notesSlide3.xml" Id="R9fe0162ba4af4d81"/><Relationship Id="rIdTemplateLogo3" Type="http://schemas.openxmlformats.org/officeDocument/2006/relationships/image" Target="../media/template-logo-3.jpg"/></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2.xml" Id="Rcc9a464c98d842b7"/><Relationship Type="http://schemas.openxmlformats.org/officeDocument/2006/relationships/image" Target="/ppt/media/image6.png" Id="R29ea310ab9ce4720"/><Relationship Type="http://schemas.openxmlformats.org/officeDocument/2006/relationships/notesSlide" Target="/ppt/notesSlides/notesSlide4.xml" Id="R84ec04fb3e3440dd"/><Relationship Id="rIdTemplateLogo4" Type="http://schemas.openxmlformats.org/officeDocument/2006/relationships/image" Target="../media/template-logo-4.jpg"/></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2.xml" Id="R01f40afcd56b41a1"/><Relationship Type="http://schemas.openxmlformats.org/officeDocument/2006/relationships/image" Target="/ppt/media/image7.png" Id="R2037a74d18e14e7f"/><Relationship Type="http://schemas.openxmlformats.org/officeDocument/2006/relationships/notesSlide" Target="/ppt/notesSlides/notesSlide5.xml" Id="R28ff6a593b054cc8"/><Relationship Id="rIdTemplateLogo5" Type="http://schemas.openxmlformats.org/officeDocument/2006/relationships/image" Target="../media/template-logo-5.jpg"/></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2.xml" Id="Rc7e9e7ee063745a1"/><Relationship Type="http://schemas.openxmlformats.org/officeDocument/2006/relationships/image" Target="/ppt/media/image8.png" Id="R9cd4f9d8715a4fd0"/><Relationship Type="http://schemas.openxmlformats.org/officeDocument/2006/relationships/notesSlide" Target="/ppt/notesSlides/notesSlide6.xml" Id="R6cfb000f5411440f"/><Relationship Id="rIdLink3" Type="http://schemas.openxmlformats.org/officeDocument/2006/relationships/hyperlink" Target="https://mausamsetu-mauve.vercel.app/sih" TargetMode="External"/><Relationship Id="rIdLink4" Type="http://schemas.openxmlformats.org/officeDocument/2006/relationships/hyperlink" Target="https://mausamsetu-mauve.vercel.app/sih" TargetMode="External"/><Relationship Id="rIdLink5" Type="http://schemas.openxmlformats.org/officeDocument/2006/relationships/hyperlink" Target="https://github.com/Jaydeng75/mausamsetu" TargetMode="External"/><Relationship Id="rIdTemplateLogo6" Type="http://schemas.openxmlformats.org/officeDocument/2006/relationships/image" Target="../media/template-logo-6.jpg"/></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46"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1f2d7d50da0042af"/>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AAC01737-A4C2-47AF-BE25-3D00D86A2C24}"/>
              </a:ext>
            </a:extLst>
          </p:cNvPr>
          <p:cNvSpPr>
            <a:spLocks xmlns:a="http://schemas.openxmlformats.org/drawingml/2006/main" noGrp="1"/>
          </p:cNvSpPr>
          <p:nvPr>
            <p:ph type="subTitle" idx="1"/>
          </p:nvPr>
        </p:nvSpPr>
        <p:spPr>
          <a:xfrm xmlns:a="http://schemas.openxmlformats.org/drawingml/2006/main">
            <a:off x="1095375" y="1190625"/>
            <a:ext cx="5619750" cy="666750"/>
          </a:xfrm>
        </p:spPr>
        <p:txBody>
          <a:bodyPr xmlns:a="http://schemas.openxmlformats.org/drawingml/2006/main"/>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MausamSetu</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E6DD795E-A3CB-4F5C-8DE5-A4328B3BB588}"/>
              </a:ext>
            </a:extLst>
          </p:cNvPr>
          <p:cNvSpPr>
            <a:spLocks xmlns:a="http://schemas.openxmlformats.org/drawingml/2006/main" noGrp="1"/>
          </p:cNvSpPr>
          <p:nvPr>
            <p:ph type="ctrTitle" idx="0"/>
          </p:nvPr>
        </p:nvSpPr>
        <p:spPr>
          <a:xfrm xmlns:a="http://schemas.openxmlformats.org/drawingml/2006/main">
            <a:off x="428625" y="142875"/>
            <a:ext cx="9191625" cy="876300"/>
          </a:xfrm>
        </p:spPr>
        <p:txBody>
          <a:bodyPr xmlns:a="http://schemas.openxmlformats.org/drawingml/2006/main"/>
          <a:lstStyle xmlns:a="http://schemas.openxmlformats.org/drawingml/2006/main"/>
          <a:p xmlns:a="http://schemas.openxmlformats.org/drawingml/2006/main">
            <a:pPr algn="ctr">
              <a:defRPr sz="3525" b="1">
                <a:solidFill>
                  <a:srgbClr val="1F497D"/>
                </a:solidFill>
                <a:latin typeface="Garamond"/>
                <a:ea typeface="Garamond"/>
                <a:cs typeface="Garamond"/>
              </a:defRPr>
            </a:pPr>
            <a:r>
              <a:rPr sz="3525" b="1">
                <a:solidFill>
                  <a:srgbClr val="1F497D"/>
                </a:solidFill>
                <a:latin typeface="Garamond"/>
                <a:ea typeface="Garamond"/>
                <a:cs typeface="Garamond"/>
              </a:rPr>
              <a:t>SMART INDIA HACKATHON 2026</a:t>
            </a:r>
            <a:endParaRPr sz="4000" b="1">
              <a:solidFill>
                <a:schemeClr val="tx2"/>
              </a:solidFill>
              <a:latin typeface="Garamond"/>
              <a:ea typeface="Garamond"/>
              <a:cs typeface="Garamond"/>
            </a:endParaRPr>
          </a:p>
        </p:txBody>
      </p:sp>
      <p:pic>
        <p:nvPicPr>
          <p:cNvPr id="49" name="Picture 1"/>
          <p:cNvPicPr>
            <a:picLocks xmlns:a="http://schemas.openxmlformats.org/drawingml/2006/main" noChangeAspect="1"/>
          </p:cNvPicPr>
          <p:nvPr/>
        </p:nvPicPr>
        <p:blipFill>
          <a:blip xmlns:r="http://schemas.openxmlformats.org/officeDocument/2006/relationships" xmlns:a="http://schemas.openxmlformats.org/drawingml/2006/main" r:embed="R0883287484d74633"/>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FC7465B9-3791-4FBC-B4B0-D1F51DAF9C3F}"/>
              </a:ext>
            </a:extLst>
          </p:cNvPr>
          <p:cNvSpPr>
            <a:spLocks xmlns:a="http://schemas.openxmlformats.org/drawingml/2006/main" noGrp="1"/>
          </p:cNvSpPr>
          <p:nvPr/>
        </p:nvSpPr>
        <p:spPr>
          <a:xfrm xmlns:a="http://schemas.openxmlformats.org/drawingml/2006/main">
            <a:off x="428625" y="2143125"/>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17202A"/>
                </a:solidFill>
                <a:latin typeface="Arial"/>
                <a:ea typeface="Arial"/>
                <a:cs typeface="Arial"/>
              </a:defRPr>
            </a:pPr>
            <a:r>
              <a:rPr sz="2175" b="1">
                <a:solidFill>
                  <a:srgbClr val="17202A"/>
                </a:solidFill>
                <a:latin typeface="Arial"/>
                <a:ea typeface="Arial"/>
                <a:cs typeface="Arial"/>
              </a:rPr>
              <a:t>Problem Statement ID: SIH26081</a:t>
            </a:r>
          </a:p>
        </p:txBody>
      </p:sp>
      <p:sp>
        <p:nvSpPr>
          <p:cNvPr id="41" name="">
            <a:extLst xmlns:a="http://schemas.openxmlformats.org/drawingml/2006/main">
              <a:ext uri="{FF2B5EF4-FFF2-40B4-BE49-F238E27FC236}">
                <a16:creationId xmlns:a16="http://schemas.microsoft.com/office/drawing/2014/main" id="{A5013D12-85E6-4834-82D7-98D8AB93B0AD}"/>
              </a:ext>
            </a:extLst>
          </p:cNvPr>
          <p:cNvSpPr>
            <a:spLocks xmlns:a="http://schemas.openxmlformats.org/drawingml/2006/main" noGrp="1"/>
          </p:cNvSpPr>
          <p:nvPr/>
        </p:nvSpPr>
        <p:spPr>
          <a:xfrm xmlns:a="http://schemas.openxmlformats.org/drawingml/2006/main">
            <a:off x="428625" y="2686050"/>
            <a:ext cx="638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7202A"/>
                </a:solidFill>
                <a:latin typeface="Arial"/>
                <a:ea typeface="Arial"/>
                <a:cs typeface="Arial"/>
              </a:defRPr>
            </a:pPr>
            <a:r>
              <a:rPr sz="2025" b="1">
                <a:solidFill>
                  <a:srgbClr val="17202A"/>
                </a:solidFill>
                <a:latin typeface="Arial"/>
                <a:ea typeface="Arial"/>
                <a:cs typeface="Arial"/>
              </a:rPr>
              <a:t>Problem Statement Title</a:t>
            </a:r>
          </a:p>
        </p:txBody>
      </p:sp>
      <p:sp>
        <p:nvSpPr>
          <p:cNvPr id="42" name="">
            <a:extLst xmlns:a="http://schemas.openxmlformats.org/drawingml/2006/main">
              <a:ext uri="{FF2B5EF4-FFF2-40B4-BE49-F238E27FC236}">
                <a16:creationId xmlns:a16="http://schemas.microsoft.com/office/drawing/2014/main" id="{E08AAC43-0CA0-47FD-BEFA-474933AD2D3C}"/>
              </a:ext>
            </a:extLst>
          </p:cNvPr>
          <p:cNvSpPr>
            <a:spLocks xmlns:a="http://schemas.openxmlformats.org/drawingml/2006/main" noGrp="1"/>
          </p:cNvSpPr>
          <p:nvPr/>
        </p:nvSpPr>
        <p:spPr>
          <a:xfrm xmlns:a="http://schemas.openxmlformats.org/drawingml/2006/main">
            <a:off x="428625" y="3067050"/>
            <a:ext cx="638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7202A"/>
                </a:solidFill>
                <a:latin typeface="Arial"/>
                <a:ea typeface="Arial"/>
                <a:cs typeface="Arial"/>
              </a:defRPr>
            </a:pPr>
            <a:r>
              <a:rPr sz="2175" b="0">
                <a:solidFill>
                  <a:srgbClr val="17202A"/>
                </a:solidFill>
                <a:latin typeface="Arial"/>
                <a:ea typeface="Arial"/>
                <a:cs typeface="Arial"/>
              </a:rPr>
              <a:t>Hybrid AI–NWP Multi-Model</a:t>
            </a:r>
          </a:p>
          <a:p xmlns:a="http://schemas.openxmlformats.org/drawingml/2006/main">
            <a:pPr>
              <a:defRPr sz="2175" b="0">
                <a:solidFill>
                  <a:srgbClr val="17202A"/>
                </a:solidFill>
                <a:latin typeface="Arial"/>
                <a:ea typeface="Arial"/>
                <a:cs typeface="Arial"/>
              </a:defRPr>
            </a:pPr>
            <a:r>
              <a:rPr sz="2175" b="0">
                <a:solidFill>
                  <a:srgbClr val="17202A"/>
                </a:solidFill>
                <a:latin typeface="Arial"/>
                <a:ea typeface="Arial"/>
                <a:cs typeface="Arial"/>
              </a:rPr>
              <a:t>Forecast Blending System</a:t>
            </a:r>
          </a:p>
        </p:txBody>
      </p:sp>
      <p:sp>
        <p:nvSpPr>
          <p:cNvPr id="43" name="">
            <a:extLst xmlns:a="http://schemas.openxmlformats.org/drawingml/2006/main">
              <a:ext uri="{FF2B5EF4-FFF2-40B4-BE49-F238E27FC236}">
                <a16:creationId xmlns:a16="http://schemas.microsoft.com/office/drawing/2014/main" id="{6591A980-52E9-41B3-8904-E9BD89AA29AF}"/>
              </a:ext>
            </a:extLst>
          </p:cNvPr>
          <p:cNvSpPr>
            <a:spLocks xmlns:a="http://schemas.openxmlformats.org/drawingml/2006/main" noGrp="1"/>
          </p:cNvSpPr>
          <p:nvPr/>
        </p:nvSpPr>
        <p:spPr>
          <a:xfrm xmlns:a="http://schemas.openxmlformats.org/drawingml/2006/main">
            <a:off x="428625" y="4143375"/>
            <a:ext cx="6667500"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7202A"/>
                </a:solidFill>
                <a:latin typeface="Arial"/>
                <a:ea typeface="Arial"/>
                <a:cs typeface="Arial"/>
              </a:defRPr>
            </a:pPr>
            <a:r>
              <a:rPr sz="2025" b="0">
                <a:solidFill>
                  <a:srgbClr val="17202A"/>
                </a:solidFill>
                <a:latin typeface="Arial"/>
                <a:ea typeface="Arial"/>
                <a:cs typeface="Arial"/>
              </a:rPr>
              <a:t>Theme: Disaster Management (confirm on portal)</a:t>
            </a:r>
          </a:p>
          <a:p xmlns:a="http://schemas.openxmlformats.org/drawingml/2006/main">
            <a:r>
              <a:t/>
            </a:r>
          </a:p>
          <a:p xmlns:a="http://schemas.openxmlformats.org/drawingml/2006/main">
            <a:pPr>
              <a:defRPr sz="2025" b="0">
                <a:solidFill>
                  <a:srgbClr val="17202A"/>
                </a:solidFill>
                <a:latin typeface="Arial"/>
                <a:ea typeface="Arial"/>
                <a:cs typeface="Arial"/>
              </a:defRPr>
            </a:pPr>
            <a:r>
              <a:rPr sz="2025" b="0">
                <a:solidFill>
                  <a:srgbClr val="17202A"/>
                </a:solidFill>
                <a:latin typeface="Arial"/>
                <a:ea typeface="Arial"/>
                <a:cs typeface="Arial"/>
              </a:rPr>
              <a:t>PS Category: Software</a:t>
            </a:r>
          </a:p>
          <a:p xmlns:a="http://schemas.openxmlformats.org/drawingml/2006/main">
            <a:r>
              <a:t/>
            </a:r>
          </a:p>
          <a:p xmlns:a="http://schemas.openxmlformats.org/drawingml/2006/main">
            <a:pPr>
              <a:defRPr sz="2025" b="0">
                <a:solidFill>
                  <a:srgbClr val="17202A"/>
                </a:solidFill>
                <a:latin typeface="Arial"/>
                <a:ea typeface="Arial"/>
                <a:cs typeface="Arial"/>
              </a:defRPr>
            </a:pPr>
            <a:r>
              <a:rPr sz="2025" b="0">
                <a:solidFill>
                  <a:srgbClr val="17202A"/>
                </a:solidFill>
                <a:latin typeface="Arial"/>
                <a:ea typeface="Arial"/>
                <a:cs typeface="Arial"/>
              </a:rPr>
              <a:t>Team ID: [Enter registered Team ID]</a:t>
            </a:r>
          </a:p>
          <a:p xmlns:a="http://schemas.openxmlformats.org/drawingml/2006/main">
            <a:r>
              <a:t/>
            </a:r>
          </a:p>
          <a:p xmlns:a="http://schemas.openxmlformats.org/drawingml/2006/main">
            <a:pPr>
              <a:defRPr sz="2025" b="0">
                <a:solidFill>
                  <a:srgbClr val="17202A"/>
                </a:solidFill>
                <a:latin typeface="Arial"/>
                <a:ea typeface="Arial"/>
                <a:cs typeface="Arial"/>
              </a:defRPr>
            </a:pPr>
            <a:r>
              <a:rPr sz="2025" b="0">
                <a:solidFill>
                  <a:srgbClr val="17202A"/>
                </a:solidFill>
                <a:latin typeface="Arial"/>
                <a:ea typeface="Arial"/>
                <a:cs typeface="Arial"/>
              </a:rPr>
              <a:t>Team Name: HEXATECH</a:t>
            </a:r>
          </a:p>
        </p:txBody>
      </p:sp>
    </p:spTree>
    <p:extLst>
      <p:ext uri="{BB962C8B-B14F-4D97-AF65-F5344CB8AC3E}">
        <p14:creationId xmlns:p14="http://schemas.microsoft.com/office/powerpoint/2010/main" val="33732619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0FB8E012-DF85-4FAB-BEC7-838D37BE48E8}"/>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7D5DB657-357C-44A2-A039-E1B6FDDC4DBF}"/>
              </a:ext>
            </a:extLst>
          </p:cNvPr>
          <p:cNvSpPr>
            <a:spLocks xmlns:a="http://schemas.openxmlformats.org/drawingml/2006/main" noGrp="1"/>
          </p:cNvSpPr>
          <p:nvPr>
            <p:ph type="title" idx="0"/>
          </p:nvPr>
        </p:nvSpPr>
        <p:spPr>
          <a:xfrm xmlns:a="http://schemas.openxmlformats.org/drawingml/2006/main">
            <a:off x="2076450" y="209550"/>
            <a:ext cx="7620000" cy="857250"/>
          </a:xfrm>
        </p:spPr>
        <p:txBody>
          <a:bodyPr xmlns:a="http://schemas.openxmlformats.org/drawingml/2006/main" anchor="ctr"/>
          <a:lstStyle xmlns:a="http://schemas.openxmlformats.org/drawingml/2006/main"/>
          <a:p xmlns:a="http://schemas.openxmlformats.org/drawingml/2006/main">
            <a:pPr algn="ctr">
              <a:buNone/>
              <a:defRPr sz="3225" b="1">
                <a:solidFill>
                  <a:srgbClr val="000000"/>
                </a:solidFill>
                <a:latin typeface="Times New Roman"/>
                <a:ea typeface="Times New Roman"/>
                <a:cs typeface="Times New Roman"/>
              </a:defRPr>
            </a:pPr>
            <a:r>
              <a:rPr sz="3225" b="1">
                <a:solidFill>
                  <a:srgbClr val="000000"/>
                </a:solidFill>
                <a:latin typeface="Times New Roman"/>
                <a:ea typeface="Times New Roman"/>
                <a:cs typeface="Times New Roman"/>
              </a:rPr>
              <a:t>MausamSetu</a:t>
            </a:r>
            <a:endParaRPr sz="3600" b="1">
              <a:latin typeface="Times New Roman"/>
              <a:ea typeface="Times New Roman"/>
              <a:cs typeface="Times New Roman"/>
            </a:endParaRPr>
          </a:p>
        </p:txBody>
      </p:sp>
      <p:sp>
        <p:nvSpPr>
          <p:cNvPr id="6" name="Slide Number Placeholder 5">
            <a:extLst xmlns:a="http://schemas.openxmlformats.org/drawingml/2006/main">
              <a:ext uri="{FF2B5EF4-FFF2-40B4-BE49-F238E27FC236}">
                <a16:creationId xmlns:a16="http://schemas.microsoft.com/office/drawing/2014/main" id="{1CD2C9D1-5B51-42B9-A8DA-1DE65E5141D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lgn="r">
              <a:defRPr sz="1200">
                <a:solidFill>
                  <a:srgbClr val="FFFFFF"/>
                </a:solidFill>
                <a:latin typeface="Times New Roman"/>
                <a:ea typeface="Times New Roman"/>
                <a:cs typeface="Times New Roman"/>
              </a:defRPr>
            </a:pPr>
            <a:fld id="{677C3CE7-23F7-4828-823C-E0205DF2CF97}" type="slidenum">
              <a:rPr sz="1200" b="1">
                <a:solidFill>
                  <a:srgbClr val="FFFFFF"/>
                </a:solidFill>
                <a:latin typeface="Times New Roman"/>
                <a:ea typeface="Times New Roman"/>
                <a:cs typeface="Times New Roman"/>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39A29172-3D16-42CD-BD40-906FDC6BC107}"/>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lgn="ctr">
              <a:buNone/>
              <a:defRPr sz="1200">
                <a:solidFill>
                  <a:srgbClr val="FFFFFF"/>
                </a:solidFill>
                <a:latin typeface="Times New Roman"/>
                <a:ea typeface="Times New Roman"/>
                <a:cs typeface="Times New Roman"/>
              </a:defRPr>
            </a:pPr>
            <a:r>
              <a:rPr sz="1200">
                <a:solidFill>
                  <a:srgbClr val="FFFFFF"/>
                </a:solidFill>
                <a:latin typeface="Times New Roman"/>
                <a:ea typeface="Times New Roman"/>
                <a:cs typeface="Times New Roman"/>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507494"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rPr sz="1600"/>
              <a:t>HEXATECH</a:t>
            </a:r>
            <a:endParaRPr sz="1600"/>
          </a:p>
        </p:txBody>
      </p:sp>
      <p:sp>
        <p:nvSpPr>
          <p:cNvPr id="15363" name="">
            <a:extLst xmlns:a="http://schemas.openxmlformats.org/drawingml/2006/main">
              <a:ext uri="{FF2B5EF4-FFF2-40B4-BE49-F238E27FC236}">
                <a16:creationId xmlns:a16="http://schemas.microsoft.com/office/drawing/2014/main" id="{EF2F1AE2-CCA7-4047-9C6E-E38609B924F8}"/>
              </a:ext>
            </a:extLst>
          </p:cNvPr>
          <p:cNvSpPr>
            <a:spLocks xmlns:a="http://schemas.openxmlformats.org/drawingml/2006/main" noGrp="1"/>
          </p:cNvSpPr>
          <p:nvPr/>
        </p:nvSpPr>
        <p:spPr>
          <a:xfrm xmlns:a="http://schemas.openxmlformats.org/drawingml/2006/main">
            <a:off x="381000" y="12382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F497D"/>
                </a:solidFill>
                <a:latin typeface="Arial"/>
                <a:ea typeface="Arial"/>
                <a:cs typeface="Arial"/>
              </a:defRPr>
            </a:pPr>
            <a:r>
              <a:rPr sz="1950" b="1">
                <a:solidFill>
                  <a:srgbClr val="1F497D"/>
                </a:solidFill>
                <a:latin typeface="Arial"/>
                <a:ea typeface="Arial"/>
                <a:cs typeface="Arial"/>
              </a:rPr>
              <a:t>Proposed solution</a:t>
            </a:r>
          </a:p>
        </p:txBody>
      </p:sp>
      <p:sp>
        <p:nvSpPr>
          <p:cNvPr id="15364" name="">
            <a:extLst xmlns:a="http://schemas.openxmlformats.org/drawingml/2006/main">
              <a:ext uri="{FF2B5EF4-FFF2-40B4-BE49-F238E27FC236}">
                <a16:creationId xmlns:a16="http://schemas.microsoft.com/office/drawing/2014/main" id="{EAD5F9ED-782A-456A-8455-6893D004AEAD}"/>
              </a:ext>
            </a:extLst>
          </p:cNvPr>
          <p:cNvSpPr>
            <a:spLocks xmlns:a="http://schemas.openxmlformats.org/drawingml/2006/main" noGrp="1"/>
          </p:cNvSpPr>
          <p:nvPr/>
        </p:nvSpPr>
        <p:spPr>
          <a:xfrm xmlns:a="http://schemas.openxmlformats.org/drawingml/2006/main">
            <a:off x="381000" y="1600200"/>
            <a:ext cx="723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Combine physical, ensemble and AI forecasts,</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then verify which blend works for each context.</a:t>
            </a:r>
          </a:p>
        </p:txBody>
      </p:sp>
      <p:sp>
        <p:nvSpPr>
          <p:cNvPr id="15365" name="">
            <a:extLst xmlns:a="http://schemas.openxmlformats.org/drawingml/2006/main">
              <a:ext uri="{FF2B5EF4-FFF2-40B4-BE49-F238E27FC236}">
                <a16:creationId xmlns:a16="http://schemas.microsoft.com/office/drawing/2014/main" id="{57E8497C-3A8B-400A-BADF-77DAD7F722FE}"/>
              </a:ext>
            </a:extLst>
          </p:cNvPr>
          <p:cNvSpPr>
            <a:spLocks xmlns:a="http://schemas.openxmlformats.org/drawingml/2006/main" noGrp="1"/>
          </p:cNvSpPr>
          <p:nvPr/>
        </p:nvSpPr>
        <p:spPr>
          <a:xfrm xmlns:a="http://schemas.openxmlformats.org/drawingml/2006/main">
            <a:off x="381000" y="2524125"/>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F497D"/>
                </a:solidFill>
                <a:latin typeface="Arial"/>
                <a:ea typeface="Arial"/>
                <a:cs typeface="Arial"/>
              </a:defRPr>
            </a:pPr>
            <a:r>
              <a:rPr sz="1950" b="1">
                <a:solidFill>
                  <a:srgbClr val="1F497D"/>
                </a:solidFill>
                <a:latin typeface="Arial"/>
                <a:ea typeface="Arial"/>
                <a:cs typeface="Arial"/>
              </a:rPr>
              <a:t>How it addresses the problem</a:t>
            </a:r>
          </a:p>
        </p:txBody>
      </p:sp>
      <p:sp>
        <p:nvSpPr>
          <p:cNvPr id="15366" name="">
            <a:extLst xmlns:a="http://schemas.openxmlformats.org/drawingml/2006/main">
              <a:ext uri="{FF2B5EF4-FFF2-40B4-BE49-F238E27FC236}">
                <a16:creationId xmlns:a16="http://schemas.microsoft.com/office/drawing/2014/main" id="{2F46EAF0-9417-4201-B355-FF79A86F31A1}"/>
              </a:ext>
            </a:extLst>
          </p:cNvPr>
          <p:cNvSpPr>
            <a:spLocks xmlns:a="http://schemas.openxmlformats.org/drawingml/2006/main" noGrp="1"/>
          </p:cNvSpPr>
          <p:nvPr/>
        </p:nvSpPr>
        <p:spPr>
          <a:xfrm xmlns:a="http://schemas.openxmlformats.org/drawingml/2006/main">
            <a:off x="381000" y="2886075"/>
            <a:ext cx="723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GFS, GEFS, IFS and AIFS share consistent grids</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and valid times. CMORPH, IMERG and IMD provide</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separate verification scorecards.</a:t>
            </a:r>
          </a:p>
        </p:txBody>
      </p:sp>
      <p:sp>
        <p:nvSpPr>
          <p:cNvPr id="15367" name="">
            <a:extLst xmlns:a="http://schemas.openxmlformats.org/drawingml/2006/main">
              <a:ext uri="{FF2B5EF4-FFF2-40B4-BE49-F238E27FC236}">
                <a16:creationId xmlns:a16="http://schemas.microsoft.com/office/drawing/2014/main" id="{0E7185E3-AD7A-4C7D-A7F2-BE55974E353E}"/>
              </a:ext>
            </a:extLst>
          </p:cNvPr>
          <p:cNvSpPr>
            <a:spLocks xmlns:a="http://schemas.openxmlformats.org/drawingml/2006/main" noGrp="1"/>
          </p:cNvSpPr>
          <p:nvPr/>
        </p:nvSpPr>
        <p:spPr>
          <a:xfrm xmlns:a="http://schemas.openxmlformats.org/drawingml/2006/main">
            <a:off x="381000" y="40957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F497D"/>
                </a:solidFill>
                <a:latin typeface="Arial"/>
                <a:ea typeface="Arial"/>
                <a:cs typeface="Arial"/>
              </a:defRPr>
            </a:pPr>
            <a:r>
              <a:rPr sz="1950" b="1">
                <a:solidFill>
                  <a:srgbClr val="1F497D"/>
                </a:solidFill>
                <a:latin typeface="Arial"/>
                <a:ea typeface="Arial"/>
                <a:cs typeface="Arial"/>
              </a:rPr>
              <a:t>Innovation and uniqueness</a:t>
            </a:r>
          </a:p>
        </p:txBody>
      </p:sp>
      <p:sp>
        <p:nvSpPr>
          <p:cNvPr id="15368" name="">
            <a:extLst xmlns:a="http://schemas.openxmlformats.org/drawingml/2006/main">
              <a:ext uri="{FF2B5EF4-FFF2-40B4-BE49-F238E27FC236}">
                <a16:creationId xmlns:a16="http://schemas.microsoft.com/office/drawing/2014/main" id="{85651DFE-2283-4BD5-B125-5F734DD92877}"/>
              </a:ext>
            </a:extLst>
          </p:cNvPr>
          <p:cNvSpPr>
            <a:spLocks xmlns:a="http://schemas.openxmlformats.org/drawingml/2006/main" noGrp="1"/>
          </p:cNvSpPr>
          <p:nvPr/>
        </p:nvSpPr>
        <p:spPr>
          <a:xfrm xmlns:a="http://schemas.openxmlformats.org/drawingml/2006/main">
            <a:off x="381000" y="4457700"/>
            <a:ext cx="723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Learn context-dependent weights in a shadow workflow.</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Handle unavailable sources explicitly. Preserve each</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run, lead, unit and checksum for inspection.</a:t>
            </a:r>
          </a:p>
        </p:txBody>
      </p:sp>
      <p:sp>
        <p:nvSpPr>
          <p:cNvPr id="15369" name="">
            <a:extLst xmlns:a="http://schemas.openxmlformats.org/drawingml/2006/main">
              <a:ext uri="{FF2B5EF4-FFF2-40B4-BE49-F238E27FC236}">
                <a16:creationId xmlns:a16="http://schemas.microsoft.com/office/drawing/2014/main" id="{8B393DDD-8E6E-4AC0-A389-A87956778B6E}"/>
              </a:ext>
            </a:extLst>
          </p:cNvPr>
          <p:cNvSpPr>
            <a:spLocks xmlns:a="http://schemas.openxmlformats.org/drawingml/2006/main" noGrp="1"/>
          </p:cNvSpPr>
          <p:nvPr/>
        </p:nvSpPr>
        <p:spPr>
          <a:xfrm xmlns:a="http://schemas.openxmlformats.org/drawingml/2006/main">
            <a:off x="381000" y="5781675"/>
            <a:ext cx="1133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F497D"/>
                </a:solidFill>
                <a:latin typeface="Arial"/>
                <a:ea typeface="Arial"/>
                <a:cs typeface="Arial"/>
              </a:defRPr>
            </a:pPr>
            <a:r>
              <a:rPr sz="1725" b="1">
                <a:solidFill>
                  <a:srgbClr val="1F497D"/>
                </a:solidFill>
                <a:latin typeface="Arial"/>
                <a:ea typeface="Arial"/>
                <a:cs typeface="Arial"/>
              </a:rPr>
              <a:t>Live: equal-weight baseline. Adaptive candidates await acceptance.</a:t>
            </a:r>
          </a:p>
        </p:txBody>
      </p:sp>
      <p:pic>
        <p:nvPicPr>
          <p:cNvPr id="15384" name=""/>
          <p:cNvPicPr>
            <a:picLocks xmlns:a="http://schemas.openxmlformats.org/drawingml/2006/main" noChangeAspect="1"/>
          </p:cNvPicPr>
          <p:nvPr/>
        </p:nvPicPr>
        <p:blipFill>
          <a:blip xmlns:r="http://schemas.openxmlformats.org/officeDocument/2006/relationships" xmlns:a="http://schemas.openxmlformats.org/drawingml/2006/main" r:embed="Ra6301e80043e4aec"/>
          <a:stretch xmlns:a="http://schemas.openxmlformats.org/drawingml/2006/main"/>
        </p:blipFill>
        <p:spPr>
          <a:xfrm xmlns:a="http://schemas.openxmlformats.org/drawingml/2006/main">
            <a:off x="8248650" y="1724025"/>
            <a:ext cx="3571875" cy="3762375"/>
          </a:xfrm>
          <a:prstGeom xmlns:a="http://schemas.openxmlformats.org/drawingml/2006/main" prst="rect">
            <a:avLst/>
          </a:prstGeom>
        </p:spPr>
      </p:pic>
      <p:pic xmlns:a="http://schemas.openxmlformats.org/drawingml/2006/main" xmlns:r="http://schemas.openxmlformats.org/officeDocument/2006/relationships">
        <p:nvPicPr>
          <p:cNvPr id="90002" name="SIH template logo 2"/>
          <p:cNvPicPr>
            <a:picLocks noChangeAspect="1"/>
          </p:cNvPicPr>
          <p:nvPr/>
        </p:nvPicPr>
        <p:blipFill>
          <a:blip r:embed="rIdTemplateLogo2"/>
          <a:stretch>
            <a:fillRect/>
          </a:stretch>
        </p:blipFill>
        <p:spPr>
          <a:xfrm>
            <a:off x="9780086" y="1500"/>
            <a:ext cx="2249850" cy="1062337"/>
          </a:xfrm>
          <a:prstGeom prst="rect">
            <a:avLst/>
          </a:prstGeom>
        </p:spPr>
      </p:pic>
    </p:spTree>
    <p:extLst>
      <p:ext uri="{BB962C8B-B14F-4D97-AF65-F5344CB8AC3E}">
        <p14:creationId xmlns:p14="http://schemas.microsoft.com/office/powerpoint/2010/main" val="204638510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6D1A70AC-6B61-4029-B649-850A86BEF869}"/>
              </a:ext>
            </a:extLst>
          </p:cNvPr>
          <p:cNvSpPr>
            <a:spLocks xmlns:a="http://schemas.openxmlformats.org/drawingml/2006/main" noGrp="1"/>
          </p:cNvSpPr>
          <p:nvPr>
            <p:ph type="title" idx="0"/>
          </p:nvPr>
        </p:nvSpPr>
        <p:spPr>
          <a:xfrm xmlns:a="http://schemas.openxmlformats.org/drawingml/2006/main">
            <a:off x="2076450" y="209550"/>
            <a:ext cx="7620000" cy="857250"/>
          </a:xfrm>
        </p:spPr>
        <p:txBody>
          <a:bodyPr xmlns:a="http://schemas.openxmlformats.org/drawingml/2006/main" anchor="ctr"/>
          <a:lstStyle xmlns:a="http://schemas.openxmlformats.org/drawingml/2006/main"/>
          <a:p xmlns:a="http://schemas.openxmlformats.org/drawingml/2006/main">
            <a:pPr algn="ctr">
              <a:buNone/>
              <a:defRPr sz="3225" b="1">
                <a:solidFill>
                  <a:srgbClr val="000000"/>
                </a:solidFill>
                <a:latin typeface="Times New Roman"/>
                <a:ea typeface="Times New Roman"/>
                <a:cs typeface="Times New Roman"/>
              </a:defRPr>
            </a:pPr>
            <a:r>
              <a:rPr sz="3225"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EDC5B687-3196-4B1F-A10F-C659330064D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lgn="r">
              <a:defRPr sz="1200">
                <a:solidFill>
                  <a:srgbClr val="FFFFFF"/>
                </a:solidFill>
                <a:latin typeface="Times New Roman"/>
                <a:ea typeface="Times New Roman"/>
                <a:cs typeface="Times New Roman"/>
              </a:defRPr>
            </a:pPr>
            <a:fld id="{677C3CE7-23F7-4828-823C-E0205DF2CF97}" type="slidenum">
              <a:rPr sz="1200" b="1">
                <a:solidFill>
                  <a:srgbClr val="FFFFFF"/>
                </a:solidFill>
                <a:latin typeface="Times New Roman"/>
                <a:ea typeface="Times New Roman"/>
                <a:cs typeface="Times New Roman"/>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744C7BDD-1B8A-4EDC-AA19-AAE06A3CC72F}"/>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lgn="ctr">
              <a:buNone/>
              <a:defRPr sz="1200">
                <a:solidFill>
                  <a:srgbClr val="FFFFFF"/>
                </a:solidFill>
                <a:latin typeface="Times New Roman"/>
                <a:ea typeface="Times New Roman"/>
                <a:cs typeface="Times New Roman"/>
              </a:defRPr>
            </a:pPr>
            <a:r>
              <a:rPr sz="1200">
                <a:solidFill>
                  <a:srgbClr val="FFFFFF"/>
                </a:solidFill>
                <a:latin typeface="Times New Roman"/>
                <a:ea typeface="Times New Roman"/>
                <a:cs typeface="Times New Roman"/>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609094"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rPr sz="1600"/>
              <a:t>HEXATECH</a:t>
            </a:r>
            <a:endParaRPr sz="1600"/>
          </a:p>
        </p:txBody>
      </p:sp>
      <p:sp>
        <p:nvSpPr>
          <p:cNvPr id="17411" name="">
            <a:extLst xmlns:a="http://schemas.openxmlformats.org/drawingml/2006/main">
              <a:ext uri="{FF2B5EF4-FFF2-40B4-BE49-F238E27FC236}">
                <a16:creationId xmlns:a16="http://schemas.microsoft.com/office/drawing/2014/main" id="{35817BBE-A9F9-4D28-BDE2-C1D43A9E29FC}"/>
              </a:ext>
            </a:extLst>
          </p:cNvPr>
          <p:cNvSpPr>
            <a:spLocks xmlns:a="http://schemas.openxmlformats.org/drawingml/2006/main" noGrp="1"/>
          </p:cNvSpPr>
          <p:nvPr/>
        </p:nvSpPr>
        <p:spPr>
          <a:xfrm xmlns:a="http://schemas.openxmlformats.org/drawingml/2006/main">
            <a:off x="400050" y="1209675"/>
            <a:ext cx="1114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F497D"/>
                </a:solidFill>
                <a:latin typeface="Arial"/>
                <a:ea typeface="Arial"/>
                <a:cs typeface="Arial"/>
              </a:defRPr>
            </a:pPr>
            <a:r>
              <a:rPr sz="2025" b="1">
                <a:solidFill>
                  <a:srgbClr val="1F497D"/>
                </a:solidFill>
                <a:latin typeface="Arial"/>
                <a:ea typeface="Arial"/>
                <a:cs typeface="Arial"/>
              </a:rPr>
              <a:t>Methodology and implementation</a:t>
            </a:r>
          </a:p>
        </p:txBody>
      </p:sp>
      <p:graphicFrame>
        <p:nvGraphicFramePr>
          <p:cNvPr id="17422" name=""/>
          <p:cNvGraphicFramePr/>
          <p:nvPr/>
        </p:nvGraphicFramePr>
        <p:xfrm>
          <a:off xmlns:a="http://schemas.openxmlformats.org/drawingml/2006/main" x="400050" y="1657350"/>
          <a:ext xmlns:a="http://schemas.openxmlformats.org/drawingml/2006/main" cx="11391900" cy="3219450"/>
        </p:xfrm>
        <a:graphic xmlns:a="http://schemas.openxmlformats.org/drawingml/2006/main">
          <a:graphicData uri="http://schemas.openxmlformats.org/drawingml/2006/table">
            <a:tbl>
              <a:tblPr/>
              <a:tblGrid>
                <a:gridCol w="2762250"/>
                <a:gridCol w="8629650"/>
              </a:tblGrid>
              <a:tr h="536575">
                <a:tc>
                  <a:txBody>
                    <a:bodyPr/>
                    <a:lstStyle/>
                    <a:p>
                      <a:r>
                        <a:rPr sz="1650" b="1">
                          <a:solidFill>
                            <a:srgbClr val="FFFFFF"/>
                          </a:solidFill>
                          <a:latin typeface="Arial"/>
                          <a:ea typeface="Arial"/>
                          <a:cs typeface="Arial"/>
                        </a:rPr>
                        <a:t>Stage</a:t>
                      </a:r>
                    </a:p>
                  </a:txBody>
                  <a:tcPr marL="91440" marR="91440" marT="45720" marB="45720">
                    <a:solidFill>
                      <a:srgbClr val="1F497D"/>
                    </a:solidFill>
                  </a:tcPr>
                </a:tc>
                <a:tc>
                  <a:txBody>
                    <a:bodyPr/>
                    <a:lstStyle/>
                    <a:p>
                      <a:r>
                        <a:rPr sz="1650" b="1">
                          <a:solidFill>
                            <a:srgbClr val="FFFFFF"/>
                          </a:solidFill>
                          <a:latin typeface="Arial"/>
                          <a:ea typeface="Arial"/>
                          <a:cs typeface="Arial"/>
                        </a:rPr>
                        <a:t>Implementation</a:t>
                      </a:r>
                    </a:p>
                  </a:txBody>
                  <a:tcPr marL="91440" marR="91440" marT="45720" marB="45720">
                    <a:solidFill>
                      <a:srgbClr val="1F497D"/>
                    </a:solidFill>
                  </a:tcPr>
                </a:tc>
              </a:tr>
              <a:tr h="536575">
                <a:tc>
                  <a:txBody>
                    <a:bodyPr/>
                    <a:lstStyle/>
                    <a:p>
                      <a:r>
                        <a:rPr sz="1650" b="0">
                          <a:solidFill>
                            <a:srgbClr val="17202A"/>
                          </a:solidFill>
                          <a:latin typeface="Arial"/>
                          <a:ea typeface="Arial"/>
                          <a:cs typeface="Arial"/>
                        </a:rPr>
                        <a:t>Ingest and align</a:t>
                      </a:r>
                    </a:p>
                  </a:txBody>
                  <a:tcPr marL="91440" marR="91440" marT="45720" marB="45720">
                    <a:solidFill>
                      <a:srgbClr val="EDF3F9"/>
                    </a:solidFill>
                  </a:tcPr>
                </a:tc>
                <a:tc>
                  <a:txBody>
                    <a:bodyPr/>
                    <a:lstStyle/>
                    <a:p>
                      <a:r>
                        <a:rPr sz="1650" b="0">
                          <a:solidFill>
                            <a:srgbClr val="17202A"/>
                          </a:solidFill>
                          <a:latin typeface="Arial"/>
                          <a:ea typeface="Arial"/>
                          <a:cs typeface="Arial"/>
                        </a:rPr>
                        <a:t>Validate run, lead, units and grids for GFS / GEFS / IFS / AIFS.</a:t>
                      </a:r>
                    </a:p>
                  </a:txBody>
                  <a:tcPr marL="91440" marR="91440" marT="45720" marB="45720">
                    <a:solidFill>
                      <a:srgbClr val="EDF3F9"/>
                    </a:solidFill>
                  </a:tcPr>
                </a:tc>
              </a:tr>
              <a:tr h="536575">
                <a:tc>
                  <a:txBody>
                    <a:bodyPr/>
                    <a:lstStyle/>
                    <a:p>
                      <a:r>
                        <a:rPr sz="1650" b="0">
                          <a:solidFill>
                            <a:srgbClr val="17202A"/>
                          </a:solidFill>
                          <a:latin typeface="Arial"/>
                          <a:ea typeface="Arial"/>
                          <a:cs typeface="Arial"/>
                        </a:rPr>
                        <a:t>Verify independently</a:t>
                      </a:r>
                    </a:p>
                  </a:txBody>
                  <a:tcPr marL="91440" marR="91440" marT="45720" marB="45720">
                    <a:solidFill>
                      <a:srgbClr val="FFFFFF"/>
                    </a:solidFill>
                  </a:tcPr>
                </a:tc>
                <a:tc>
                  <a:txBody>
                    <a:bodyPr/>
                    <a:lstStyle/>
                    <a:p>
                      <a:r>
                        <a:rPr sz="1650" b="0">
                          <a:solidFill>
                            <a:srgbClr val="17202A"/>
                          </a:solidFill>
                          <a:latin typeface="Arial"/>
                          <a:ea typeface="Arial"/>
                          <a:cs typeface="Arial"/>
                        </a:rPr>
                        <a:t>Compare exact valid windows with CMORPH, IMERG and IMD.</a:t>
                      </a:r>
                    </a:p>
                  </a:txBody>
                  <a:tcPr marL="91440" marR="91440" marT="45720" marB="45720">
                    <a:solidFill>
                      <a:srgbClr val="FFFFFF"/>
                    </a:solidFill>
                  </a:tcPr>
                </a:tc>
              </a:tr>
              <a:tr h="536575">
                <a:tc>
                  <a:txBody>
                    <a:bodyPr/>
                    <a:lstStyle/>
                    <a:p>
                      <a:r>
                        <a:rPr sz="1650" b="0">
                          <a:solidFill>
                            <a:srgbClr val="17202A"/>
                          </a:solidFill>
                          <a:latin typeface="Arial"/>
                          <a:ea typeface="Arial"/>
                          <a:cs typeface="Arial"/>
                        </a:rPr>
                        <a:t>Learn in shadow</a:t>
                      </a:r>
                    </a:p>
                  </a:txBody>
                  <a:tcPr marL="91440" marR="91440" marT="45720" marB="45720">
                    <a:solidFill>
                      <a:srgbClr val="EDF3F9"/>
                    </a:solidFill>
                  </a:tcPr>
                </a:tc>
                <a:tc>
                  <a:txBody>
                    <a:bodyPr/>
                    <a:lstStyle/>
                    <a:p>
                      <a:r>
                        <a:rPr sz="1650" b="0">
                          <a:solidFill>
                            <a:srgbClr val="17202A"/>
                          </a:solidFill>
                          <a:latin typeface="Arial"/>
                          <a:ea typeface="Arial"/>
                          <a:cs typeface="Arial"/>
                        </a:rPr>
                        <a:t>Train by chronology; test by event block, lead and variable.</a:t>
                      </a:r>
                    </a:p>
                  </a:txBody>
                  <a:tcPr marL="91440" marR="91440" marT="45720" marB="45720">
                    <a:solidFill>
                      <a:srgbClr val="EDF3F9"/>
                    </a:solidFill>
                  </a:tcPr>
                </a:tc>
              </a:tr>
              <a:tr h="536575">
                <a:tc>
                  <a:txBody>
                    <a:bodyPr/>
                    <a:lstStyle/>
                    <a:p>
                      <a:r>
                        <a:rPr sz="1650" b="0">
                          <a:solidFill>
                            <a:srgbClr val="17202A"/>
                          </a:solidFill>
                          <a:latin typeface="Arial"/>
                          <a:ea typeface="Arial"/>
                          <a:cs typeface="Arial"/>
                        </a:rPr>
                        <a:t>Handle missing sources</a:t>
                      </a:r>
                    </a:p>
                  </a:txBody>
                  <a:tcPr marL="91440" marR="91440" marT="45720" marB="45720">
                    <a:solidFill>
                      <a:srgbClr val="FFFFFF"/>
                    </a:solidFill>
                  </a:tcPr>
                </a:tc>
                <a:tc>
                  <a:txBody>
                    <a:bodyPr/>
                    <a:lstStyle/>
                    <a:p>
                      <a:r>
                        <a:rPr sz="1650" b="0">
                          <a:solidFill>
                            <a:srgbClr val="17202A"/>
                          </a:solidFill>
                          <a:latin typeface="Arial"/>
                          <a:ea typeface="Arial"/>
                          <a:cs typeface="Arial"/>
                        </a:rPr>
                        <a:t>Set unavailable-source weights to zero; renormalize valid weights.</a:t>
                      </a:r>
                    </a:p>
                  </a:txBody>
                  <a:tcPr marL="91440" marR="91440" marT="45720" marB="45720">
                    <a:solidFill>
                      <a:srgbClr val="FFFFFF"/>
                    </a:solidFill>
                  </a:tcPr>
                </a:tc>
              </a:tr>
              <a:tr h="536575">
                <a:tc>
                  <a:txBody>
                    <a:bodyPr/>
                    <a:lstStyle/>
                    <a:p>
                      <a:r>
                        <a:rPr sz="1650" b="0">
                          <a:solidFill>
                            <a:srgbClr val="17202A"/>
                          </a:solidFill>
                          <a:latin typeface="Arial"/>
                          <a:ea typeface="Arial"/>
                          <a:cs typeface="Arial"/>
                        </a:rPr>
                        <a:t>Publish and inspect</a:t>
                      </a:r>
                    </a:p>
                  </a:txBody>
                  <a:tcPr marL="91440" marR="91440" marT="45720" marB="45720">
                    <a:solidFill>
                      <a:srgbClr val="EDF3F9"/>
                    </a:solidFill>
                  </a:tcPr>
                </a:tc>
                <a:tc>
                  <a:txBody>
                    <a:bodyPr/>
                    <a:lstStyle/>
                    <a:p>
                      <a:r>
                        <a:rPr sz="1650" b="0">
                          <a:solidFill>
                            <a:srgbClr val="17202A"/>
                          </a:solidFill>
                          <a:latin typeface="Arial"/>
                          <a:ea typeface="Arial"/>
                          <a:cs typeface="Arial"/>
                        </a:rPr>
                        <a:t>Serve live baseline maps, source comparisons and provenance.</a:t>
                      </a:r>
                    </a:p>
                  </a:txBody>
                  <a:tcPr marL="91440" marR="91440" marT="45720" marB="45720">
                    <a:solidFill>
                      <a:srgbClr val="EDF3F9"/>
                    </a:solidFill>
                  </a:tcPr>
                </a:tc>
              </a:tr>
            </a:tbl>
          </a:graphicData>
        </a:graphic>
      </p:graphicFrame>
      <p:sp>
        <p:nvSpPr>
          <p:cNvPr id="17413" name="">
            <a:extLst xmlns:a="http://schemas.openxmlformats.org/drawingml/2006/main">
              <a:ext uri="{FF2B5EF4-FFF2-40B4-BE49-F238E27FC236}">
                <a16:creationId xmlns:a16="http://schemas.microsoft.com/office/drawing/2014/main" id="{CB52A1EB-6EFB-4CD6-9D6B-B2D65AA9038F}"/>
              </a:ext>
            </a:extLst>
          </p:cNvPr>
          <p:cNvSpPr>
            <a:spLocks xmlns:a="http://schemas.openxmlformats.org/drawingml/2006/main" noGrp="1"/>
          </p:cNvSpPr>
          <p:nvPr/>
        </p:nvSpPr>
        <p:spPr>
          <a:xfrm xmlns:a="http://schemas.openxmlformats.org/drawingml/2006/main">
            <a:off x="400050" y="514350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F497D"/>
                </a:solidFill>
                <a:latin typeface="Arial"/>
                <a:ea typeface="Arial"/>
                <a:cs typeface="Arial"/>
              </a:defRPr>
            </a:pPr>
            <a:r>
              <a:rPr sz="1950" b="1">
                <a:solidFill>
                  <a:srgbClr val="1F497D"/>
                </a:solidFill>
                <a:latin typeface="Arial"/>
                <a:ea typeface="Arial"/>
                <a:cs typeface="Arial"/>
              </a:rPr>
              <a:t>Technology stack</a:t>
            </a:r>
          </a:p>
        </p:txBody>
      </p:sp>
      <p:sp>
        <p:nvSpPr>
          <p:cNvPr id="17414" name="">
            <a:extLst xmlns:a="http://schemas.openxmlformats.org/drawingml/2006/main">
              <a:ext uri="{FF2B5EF4-FFF2-40B4-BE49-F238E27FC236}">
                <a16:creationId xmlns:a16="http://schemas.microsoft.com/office/drawing/2014/main" id="{B293B489-69DE-42F5-BFC2-842993C209A1}"/>
              </a:ext>
            </a:extLst>
          </p:cNvPr>
          <p:cNvSpPr>
            <a:spLocks xmlns:a="http://schemas.openxmlformats.org/drawingml/2006/main" noGrp="1"/>
          </p:cNvSpPr>
          <p:nvPr/>
        </p:nvSpPr>
        <p:spPr>
          <a:xfrm xmlns:a="http://schemas.openxmlformats.org/drawingml/2006/main">
            <a:off x="400050" y="5505450"/>
            <a:ext cx="11287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7202A"/>
                </a:solidFill>
                <a:latin typeface="Arial"/>
                <a:ea typeface="Arial"/>
                <a:cs typeface="Arial"/>
              </a:defRPr>
            </a:pPr>
            <a:r>
              <a:rPr sz="1725" b="0">
                <a:solidFill>
                  <a:srgbClr val="17202A"/>
                </a:solidFill>
                <a:latin typeface="Arial"/>
                <a:ea typeface="Arial"/>
                <a:cs typeface="Arial"/>
              </a:rPr>
              <a:t>Python / FastAPI • PostgreSQL / PostGIS • xarray / ecCodes</a:t>
            </a:r>
          </a:p>
          <a:p xmlns:a="http://schemas.openxmlformats.org/drawingml/2006/main">
            <a:pPr>
              <a:defRPr sz="1725" b="0">
                <a:solidFill>
                  <a:srgbClr val="17202A"/>
                </a:solidFill>
                <a:latin typeface="Arial"/>
                <a:ea typeface="Arial"/>
                <a:cs typeface="Arial"/>
              </a:defRPr>
            </a:pPr>
            <a:r>
              <a:rPr sz="1725" b="0">
                <a:solidFill>
                  <a:srgbClr val="17202A"/>
                </a:solidFill>
                <a:latin typeface="Arial"/>
                <a:ea typeface="Arial"/>
                <a:cs typeface="Arial"/>
              </a:rPr>
              <a:t>Next.js / React / MapLibre • NumPy / SciPy • Docker Compose</a:t>
            </a:r>
          </a:p>
        </p:txBody>
      </p:sp>
      <p:pic xmlns:a="http://schemas.openxmlformats.org/drawingml/2006/main" xmlns:r="http://schemas.openxmlformats.org/officeDocument/2006/relationships">
        <p:nvPicPr>
          <p:cNvPr id="90003" name="SIH template logo 3"/>
          <p:cNvPicPr>
            <a:picLocks noChangeAspect="1"/>
          </p:cNvPicPr>
          <p:nvPr/>
        </p:nvPicPr>
        <p:blipFill>
          <a:blip r:embed="rIdTemplateLogo3"/>
          <a:stretch>
            <a:fillRect/>
          </a:stretch>
        </p:blipFill>
        <p:spPr>
          <a:xfrm>
            <a:off x="9780086" y="1500"/>
            <a:ext cx="2249850" cy="1062337"/>
          </a:xfrm>
          <a:prstGeom prst="rect">
            <a:avLst/>
          </a:prstGeom>
        </p:spPr>
      </p:pic>
    </p:spTree>
    <p:extLst>
      <p:ext uri="{BB962C8B-B14F-4D97-AF65-F5344CB8AC3E}">
        <p14:creationId xmlns:p14="http://schemas.microsoft.com/office/powerpoint/2010/main" val="79075520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strike="noStrik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8E4CBAF2-6465-4C9E-8C1C-99DB2AD2DBA5}"/>
              </a:ext>
            </a:extLst>
          </p:cNvPr>
          <p:cNvSpPr>
            <a:spLocks xmlns:a="http://schemas.openxmlformats.org/drawingml/2006/main" noGrp="1"/>
          </p:cNvSpPr>
          <p:nvPr>
            <p:ph type="title" idx="0"/>
          </p:nvPr>
        </p:nvSpPr>
        <p:spPr>
          <a:xfrm xmlns:a="http://schemas.openxmlformats.org/drawingml/2006/main">
            <a:off x="2076450" y="209550"/>
            <a:ext cx="7620000" cy="857250"/>
          </a:xfrm>
        </p:spPr>
        <p:txBody>
          <a:bodyPr xmlns:a="http://schemas.openxmlformats.org/drawingml/2006/main" anchor="ctr"/>
          <a:lstStyle xmlns:a="http://schemas.openxmlformats.org/drawingml/2006/main"/>
          <a:p xmlns:a="http://schemas.openxmlformats.org/drawingml/2006/main">
            <a:pPr algn="ctr">
              <a:buNone/>
              <a:defRPr sz="3225" b="1">
                <a:solidFill>
                  <a:srgbClr val="000000"/>
                </a:solidFill>
                <a:latin typeface="Times New Roman"/>
                <a:ea typeface="Times New Roman"/>
                <a:cs typeface="Times New Roman"/>
              </a:defRPr>
            </a:pPr>
            <a:r>
              <a:rPr sz="3225"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1FFE796A-40D5-4736-AE9E-F8D06413D9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defRPr sz="1200">
                <a:solidFill>
                  <a:srgbClr val="FFFFFF"/>
                </a:solidFill>
                <a:latin typeface="Times New Roman"/>
                <a:ea typeface="Times New Roman"/>
                <a:cs typeface="Times New Roman"/>
              </a:defRPr>
            </a:pPr>
            <a:fld id="{677C3CE7-23F7-4828-823C-E0205DF2CF97}" type="slidenum">
              <a:rPr sz="1200" b="1" i="0" u="none" strike="noStrike" cap="none" spc="0" baseline="0">
                <a:ln>
                  <a:noFill/>
                </a:ln>
                <a:solidFill>
                  <a:srgbClr val="FFFFFF"/>
                </a:solidFill>
                <a:latin typeface="Times New Roman"/>
                <a:ea typeface="Times New Roman"/>
                <a:cs typeface="Times New Roman"/>
              </a:rPr>
              <a:t>4</a:t>
            </a:fld>
            <a:endParaRPr sz="1200" b="1" i="0" u="none" strike="noStrik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69918FB2-4AAC-4090-B449-B1C639A570D2}"/>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defRPr sz="1200">
                <a:solidFill>
                  <a:srgbClr val="FFFFFF"/>
                </a:solidFill>
                <a:latin typeface="Times New Roman"/>
                <a:ea typeface="Times New Roman"/>
                <a:cs typeface="Times New Roman"/>
              </a:defRPr>
            </a:pPr>
            <a:r>
              <a:rPr sz="1200" b="0" i="0" u="none" strike="noStrike" cap="none" spc="0" baseline="0">
                <a:ln>
                  <a:noFill/>
                </a:ln>
                <a:solidFill>
                  <a:srgbClr val="FFFFFF"/>
                </a:solidFill>
                <a:latin typeface="Times New Roman"/>
                <a:ea typeface="Times New Roman"/>
                <a:cs typeface="Times New Roman"/>
              </a:rPr>
              <a:t>@SIH Idea submission- Template</a:t>
            </a:r>
            <a:endParaRPr sz="1200" b="0" i="0" u="none" strike="noStrik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532894"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rPr sz="1600"/>
              <a:t>HEXATECH</a:t>
            </a:r>
            <a:endParaRPr sz="1600"/>
          </a:p>
        </p:txBody>
      </p:sp>
      <p:sp>
        <p:nvSpPr>
          <p:cNvPr id="17411" name="">
            <a:extLst xmlns:a="http://schemas.openxmlformats.org/drawingml/2006/main">
              <a:ext uri="{FF2B5EF4-FFF2-40B4-BE49-F238E27FC236}">
                <a16:creationId xmlns:a16="http://schemas.microsoft.com/office/drawing/2014/main" id="{C57CD085-7953-4624-9A80-1D8ECEFE7A1E}"/>
              </a:ext>
            </a:extLst>
          </p:cNvPr>
          <p:cNvSpPr>
            <a:spLocks xmlns:a="http://schemas.openxmlformats.org/drawingml/2006/main" noGrp="1"/>
          </p:cNvSpPr>
          <p:nvPr/>
        </p:nvSpPr>
        <p:spPr>
          <a:xfrm xmlns:a="http://schemas.openxmlformats.org/drawingml/2006/main">
            <a:off x="400050" y="1219200"/>
            <a:ext cx="1133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F497D"/>
                </a:solidFill>
                <a:latin typeface="Arial"/>
                <a:ea typeface="Arial"/>
                <a:cs typeface="Arial"/>
              </a:defRPr>
            </a:pPr>
            <a:r>
              <a:rPr sz="1950" b="1">
                <a:solidFill>
                  <a:srgbClr val="1F497D"/>
                </a:solidFill>
                <a:latin typeface="Arial"/>
                <a:ea typeface="Arial"/>
                <a:cs typeface="Arial"/>
              </a:rPr>
              <a:t>Feasibility demonstrated</a:t>
            </a:r>
          </a:p>
        </p:txBody>
      </p:sp>
      <p:sp>
        <p:nvSpPr>
          <p:cNvPr id="17412" name="">
            <a:extLst xmlns:a="http://schemas.openxmlformats.org/drawingml/2006/main">
              <a:ext uri="{FF2B5EF4-FFF2-40B4-BE49-F238E27FC236}">
                <a16:creationId xmlns:a16="http://schemas.microsoft.com/office/drawing/2014/main" id="{B30546F6-57E4-4959-96DE-361A3B74EE8C}"/>
              </a:ext>
            </a:extLst>
          </p:cNvPr>
          <p:cNvSpPr>
            <a:spLocks xmlns:a="http://schemas.openxmlformats.org/drawingml/2006/main" noGrp="1"/>
          </p:cNvSpPr>
          <p:nvPr/>
        </p:nvSpPr>
        <p:spPr>
          <a:xfrm xmlns:a="http://schemas.openxmlformats.org/drawingml/2006/main">
            <a:off x="400050" y="1581150"/>
            <a:ext cx="11334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Deployed: Vercel frontend and OCI API/workers. Four live forecast sources,</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verification pipelines and MOSDAC rainfall context. Tailscale protects SSH.</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9 IMD reports through 30 Sep 2026, 03:00 UTC. Adaptive acceptance remains pending.</a:t>
            </a:r>
          </a:p>
        </p:txBody>
      </p:sp>
      <p:sp>
        <p:nvSpPr>
          <p:cNvPr id="17413" name="">
            <a:extLst xmlns:a="http://schemas.openxmlformats.org/drawingml/2006/main">
              <a:ext uri="{FF2B5EF4-FFF2-40B4-BE49-F238E27FC236}">
                <a16:creationId xmlns:a16="http://schemas.microsoft.com/office/drawing/2014/main" id="{B66443BD-0819-4C8E-A701-810326206B7B}"/>
              </a:ext>
            </a:extLst>
          </p:cNvPr>
          <p:cNvSpPr>
            <a:spLocks xmlns:a="http://schemas.openxmlformats.org/drawingml/2006/main" noGrp="1"/>
          </p:cNvSpPr>
          <p:nvPr/>
        </p:nvSpPr>
        <p:spPr>
          <a:xfrm xmlns:a="http://schemas.openxmlformats.org/drawingml/2006/main">
            <a:off x="400050" y="2400300"/>
            <a:ext cx="1133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F497D"/>
                </a:solidFill>
                <a:latin typeface="Arial"/>
                <a:ea typeface="Arial"/>
                <a:cs typeface="Arial"/>
              </a:defRPr>
            </a:pPr>
            <a:r>
              <a:rPr sz="2025" b="1">
                <a:solidFill>
                  <a:srgbClr val="1F497D"/>
                </a:solidFill>
                <a:latin typeface="Arial"/>
                <a:ea typeface="Arial"/>
                <a:cs typeface="Arial"/>
              </a:rPr>
              <a:t>Potential challenges and mitigation</a:t>
            </a:r>
          </a:p>
        </p:txBody>
      </p:sp>
      <p:graphicFrame>
        <p:nvGraphicFramePr>
          <p:cNvPr id="17425" name=""/>
          <p:cNvGraphicFramePr/>
          <p:nvPr/>
        </p:nvGraphicFramePr>
        <p:xfrm>
          <a:off xmlns:a="http://schemas.openxmlformats.org/drawingml/2006/main" x="400050" y="2838450"/>
          <a:ext xmlns:a="http://schemas.openxmlformats.org/drawingml/2006/main" cx="11391900" cy="2600325"/>
        </p:xfrm>
        <a:graphic xmlns:a="http://schemas.openxmlformats.org/drawingml/2006/main">
          <a:graphicData uri="http://schemas.openxmlformats.org/drawingml/2006/table">
            <a:tbl>
              <a:tblPr/>
              <a:tblGrid>
                <a:gridCol w="4048125"/>
                <a:gridCol w="7343775"/>
              </a:tblGrid>
              <a:tr h="520065">
                <a:tc>
                  <a:txBody>
                    <a:bodyPr/>
                    <a:lstStyle/>
                    <a:p>
                      <a:r>
                        <a:rPr sz="1650" b="1">
                          <a:solidFill>
                            <a:srgbClr val="FFFFFF"/>
                          </a:solidFill>
                          <a:latin typeface="Arial"/>
                          <a:ea typeface="Arial"/>
                          <a:cs typeface="Arial"/>
                        </a:rPr>
                        <a:t>Challenge / risk</a:t>
                      </a:r>
                    </a:p>
                  </a:txBody>
                  <a:tcPr marL="91440" marR="91440" marT="45720" marB="45720">
                    <a:solidFill>
                      <a:srgbClr val="1F497D"/>
                    </a:solidFill>
                  </a:tcPr>
                </a:tc>
                <a:tc>
                  <a:txBody>
                    <a:bodyPr/>
                    <a:lstStyle/>
                    <a:p>
                      <a:r>
                        <a:rPr sz="1650" b="1">
                          <a:solidFill>
                            <a:srgbClr val="FFFFFF"/>
                          </a:solidFill>
                          <a:latin typeface="Arial"/>
                          <a:ea typeface="Arial"/>
                          <a:cs typeface="Arial"/>
                        </a:rPr>
                        <a:t>Strategy</a:t>
                      </a:r>
                    </a:p>
                  </a:txBody>
                  <a:tcPr marL="91440" marR="91440" marT="45720" marB="45720">
                    <a:solidFill>
                      <a:srgbClr val="1F497D"/>
                    </a:solidFill>
                  </a:tcPr>
                </a:tc>
              </a:tr>
              <a:tr h="520065">
                <a:tc>
                  <a:txBody>
                    <a:bodyPr/>
                    <a:lstStyle/>
                    <a:p>
                      <a:r>
                        <a:rPr sz="1650" b="0">
                          <a:solidFill>
                            <a:srgbClr val="17202A"/>
                          </a:solidFill>
                          <a:latin typeface="Arial"/>
                          <a:ea typeface="Arial"/>
                          <a:cs typeface="Arial"/>
                        </a:rPr>
                        <a:t>Late or missing model data</a:t>
                      </a:r>
                    </a:p>
                  </a:txBody>
                  <a:tcPr marL="91440" marR="91440" marT="45720" marB="45720">
                    <a:solidFill>
                      <a:srgbClr val="EDF3F9"/>
                    </a:solidFill>
                  </a:tcPr>
                </a:tc>
                <a:tc>
                  <a:txBody>
                    <a:bodyPr/>
                    <a:lstStyle/>
                    <a:p>
                      <a:r>
                        <a:rPr sz="1650" b="0">
                          <a:solidFill>
                            <a:srgbClr val="17202A"/>
                          </a:solidFill>
                          <a:latin typeface="Arial"/>
                          <a:ea typeface="Arial"/>
                          <a:cs typeface="Arial"/>
                        </a:rPr>
                        <a:t>Track freshness and availability; expose degraded-source status.</a:t>
                      </a:r>
                    </a:p>
                  </a:txBody>
                  <a:tcPr marL="91440" marR="91440" marT="45720" marB="45720">
                    <a:solidFill>
                      <a:srgbClr val="EDF3F9"/>
                    </a:solidFill>
                  </a:tcPr>
                </a:tc>
              </a:tr>
              <a:tr h="520065">
                <a:tc>
                  <a:txBody>
                    <a:bodyPr/>
                    <a:lstStyle/>
                    <a:p>
                      <a:r>
                        <a:rPr sz="1650" b="0">
                          <a:solidFill>
                            <a:srgbClr val="17202A"/>
                          </a:solidFill>
                          <a:latin typeface="Arial"/>
                          <a:ea typeface="Arial"/>
                          <a:cs typeface="Arial"/>
                        </a:rPr>
                        <a:t>Different grids and time windows</a:t>
                      </a:r>
                    </a:p>
                  </a:txBody>
                  <a:tcPr marL="91440" marR="91440" marT="45720" marB="45720">
                    <a:solidFill>
                      <a:srgbClr val="FFFFFF"/>
                    </a:solidFill>
                  </a:tcPr>
                </a:tc>
                <a:tc>
                  <a:txBody>
                    <a:bodyPr/>
                    <a:lstStyle/>
                    <a:p>
                      <a:r>
                        <a:rPr sz="1650" b="0">
                          <a:solidFill>
                            <a:srgbClr val="17202A"/>
                          </a:solidFill>
                          <a:latin typeface="Arial"/>
                          <a:ea typeface="Arial"/>
                          <a:cs typeface="Arial"/>
                        </a:rPr>
                        <a:t>Normalize units and coordinates; verify matching accumulation windows.</a:t>
                      </a:r>
                    </a:p>
                  </a:txBody>
                  <a:tcPr marL="91440" marR="91440" marT="45720" marB="45720">
                    <a:solidFill>
                      <a:srgbClr val="FFFFFF"/>
                    </a:solidFill>
                  </a:tcPr>
                </a:tc>
              </a:tr>
              <a:tr h="520065">
                <a:tc>
                  <a:txBody>
                    <a:bodyPr/>
                    <a:lstStyle/>
                    <a:p>
                      <a:r>
                        <a:rPr sz="1650" b="0">
                          <a:solidFill>
                            <a:srgbClr val="17202A"/>
                          </a:solidFill>
                          <a:latin typeface="Arial"/>
                          <a:ea typeface="Arial"/>
                          <a:cs typeface="Arial"/>
                        </a:rPr>
                        <a:t>Limited extreme-event evidence</a:t>
                      </a:r>
                    </a:p>
                  </a:txBody>
                  <a:tcPr marL="91440" marR="91440" marT="45720" marB="45720">
                    <a:solidFill>
                      <a:srgbClr val="EDF3F9"/>
                    </a:solidFill>
                  </a:tcPr>
                </a:tc>
                <a:tc>
                  <a:txBody>
                    <a:bodyPr/>
                    <a:lstStyle/>
                    <a:p>
                      <a:r>
                        <a:rPr sz="1650" b="0">
                          <a:solidFill>
                            <a:srgbClr val="17202A"/>
                          </a:solidFill>
                          <a:latin typeface="Arial"/>
                          <a:ea typeface="Arial"/>
                          <a:cs typeface="Arial"/>
                        </a:rPr>
                        <a:t>Collect independent prospective cases; retain the baseline until gates pass.</a:t>
                      </a:r>
                    </a:p>
                  </a:txBody>
                  <a:tcPr marL="91440" marR="91440" marT="45720" marB="45720">
                    <a:solidFill>
                      <a:srgbClr val="EDF3F9"/>
                    </a:solidFill>
                  </a:tcPr>
                </a:tc>
              </a:tr>
              <a:tr h="520065">
                <a:tc>
                  <a:txBody>
                    <a:bodyPr/>
                    <a:lstStyle/>
                    <a:p>
                      <a:r>
                        <a:rPr sz="1650" b="0">
                          <a:solidFill>
                            <a:srgbClr val="17202A"/>
                          </a:solidFill>
                          <a:latin typeface="Arial"/>
                          <a:ea typeface="Arial"/>
                          <a:cs typeface="Arial"/>
                        </a:rPr>
                        <a:t>NCUM / latest-cycle NEPS access</a:t>
                      </a:r>
                    </a:p>
                  </a:txBody>
                  <a:tcPr marL="91440" marR="91440" marT="45720" marB="45720">
                    <a:solidFill>
                      <a:srgbClr val="FFFFFF"/>
                    </a:solidFill>
                  </a:tcPr>
                </a:tc>
                <a:tc>
                  <a:txBody>
                    <a:bodyPr/>
                    <a:lstStyle/>
                    <a:p>
                      <a:r>
                        <a:rPr sz="1650" b="0">
                          <a:solidFill>
                            <a:srgbClr val="17202A"/>
                          </a:solidFill>
                          <a:latin typeface="Arial"/>
                          <a:ea typeface="Arial"/>
                          <a:cs typeface="Arial"/>
                        </a:rPr>
                        <a:t>Use open sources now; integrate authorized Indian feeds when available.</a:t>
                      </a:r>
                    </a:p>
                  </a:txBody>
                  <a:tcPr marL="91440" marR="91440" marT="45720" marB="45720">
                    <a:solidFill>
                      <a:srgbClr val="FFFFFF"/>
                    </a:solidFill>
                  </a:tcPr>
                </a:tc>
              </a:tr>
            </a:tbl>
          </a:graphicData>
        </a:graphic>
      </p:graphicFrame>
      <p:sp>
        <p:nvSpPr>
          <p:cNvPr id="17415" name="">
            <a:extLst xmlns:a="http://schemas.openxmlformats.org/drawingml/2006/main">
              <a:ext uri="{FF2B5EF4-FFF2-40B4-BE49-F238E27FC236}">
                <a16:creationId xmlns:a16="http://schemas.microsoft.com/office/drawing/2014/main" id="{297AF869-79C3-4D94-9BC9-7D65548D1727}"/>
              </a:ext>
            </a:extLst>
          </p:cNvPr>
          <p:cNvSpPr>
            <a:spLocks xmlns:a="http://schemas.openxmlformats.org/drawingml/2006/main" noGrp="1"/>
          </p:cNvSpPr>
          <p:nvPr/>
        </p:nvSpPr>
        <p:spPr>
          <a:xfrm xmlns:a="http://schemas.openxmlformats.org/drawingml/2006/main">
            <a:off x="400050" y="5715000"/>
            <a:ext cx="1133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650" b="1">
                <a:solidFill>
                  <a:srgbClr val="1F497D"/>
                </a:solidFill>
                <a:latin typeface="Arial"/>
                <a:ea typeface="Arial"/>
                <a:cs typeface="Arial"/>
              </a:defRPr>
            </a:pPr>
            <a:r>
              <a:rPr sz="1650" b="1">
                <a:solidFill>
                  <a:srgbClr val="1F497D"/>
                </a:solidFill>
                <a:latin typeface="Arial"/>
                <a:ea typeface="Arial"/>
                <a:cs typeface="Arial"/>
              </a:rPr>
              <a:t>Next: off-site restore drill, external alerts, institutional identity and scientific review.</a:t>
            </a:r>
          </a:p>
        </p:txBody>
      </p:sp>
      <p:pic xmlns:a="http://schemas.openxmlformats.org/drawingml/2006/main" xmlns:r="http://schemas.openxmlformats.org/officeDocument/2006/relationships">
        <p:nvPicPr>
          <p:cNvPr id="90004" name="SIH template logo 4"/>
          <p:cNvPicPr>
            <a:picLocks noChangeAspect="1"/>
          </p:cNvPicPr>
          <p:nvPr/>
        </p:nvPicPr>
        <p:blipFill>
          <a:blip r:embed="rIdTemplateLogo4"/>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strike="noStrik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9ED21A3A-8083-40B1-AFE1-18982232FB26}"/>
              </a:ext>
            </a:extLst>
          </p:cNvPr>
          <p:cNvSpPr>
            <a:spLocks xmlns:a="http://schemas.openxmlformats.org/drawingml/2006/main" noGrp="1"/>
          </p:cNvSpPr>
          <p:nvPr>
            <p:ph type="title" idx="0"/>
          </p:nvPr>
        </p:nvSpPr>
        <p:spPr>
          <a:xfrm xmlns:a="http://schemas.openxmlformats.org/drawingml/2006/main">
            <a:off x="2076450" y="209550"/>
            <a:ext cx="7620000" cy="857250"/>
          </a:xfrm>
        </p:spPr>
        <p:txBody>
          <a:bodyPr xmlns:a="http://schemas.openxmlformats.org/drawingml/2006/main" anchor="ctr"/>
          <a:lstStyle xmlns:a="http://schemas.openxmlformats.org/drawingml/2006/main"/>
          <a:p xmlns:a="http://schemas.openxmlformats.org/drawingml/2006/main">
            <a:pPr algn="ctr">
              <a:buNone/>
              <a:defRPr sz="3225" b="1">
                <a:solidFill>
                  <a:srgbClr val="000000"/>
                </a:solidFill>
                <a:latin typeface="Times New Roman"/>
                <a:ea typeface="Times New Roman"/>
                <a:cs typeface="Times New Roman"/>
              </a:defRPr>
            </a:pPr>
            <a:r>
              <a:rPr sz="3225"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C75DF9ED-1CBE-4588-A688-FDF966BFE6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defRPr sz="1200">
                <a:solidFill>
                  <a:srgbClr val="FFFFFF"/>
                </a:solidFill>
                <a:latin typeface="Times New Roman"/>
                <a:ea typeface="Times New Roman"/>
                <a:cs typeface="Times New Roman"/>
              </a:defRPr>
            </a:pPr>
            <a:fld id="{677C3CE7-23F7-4828-823C-E0205DF2CF97}" type="slidenum">
              <a:rPr sz="1200" b="1" i="0" u="none" strike="noStrike" cap="none" spc="0" baseline="0">
                <a:ln>
                  <a:noFill/>
                </a:ln>
                <a:solidFill>
                  <a:srgbClr val="FFFFFF"/>
                </a:solidFill>
                <a:latin typeface="Times New Roman"/>
                <a:ea typeface="Times New Roman"/>
                <a:cs typeface="Times New Roman"/>
              </a:rPr>
              <a:t>5</a:t>
            </a:fld>
            <a:endParaRPr sz="1200" b="1" i="0" u="none" strike="noStrik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87DD526F-C04D-4B7E-B56C-9DD232421413}"/>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defRPr sz="1200">
                <a:solidFill>
                  <a:srgbClr val="FFFFFF"/>
                </a:solidFill>
                <a:latin typeface="Times New Roman"/>
                <a:ea typeface="Times New Roman"/>
                <a:cs typeface="Times New Roman"/>
              </a:defRPr>
            </a:pPr>
            <a:r>
              <a:rPr sz="1200" b="0" i="0" u="none" strike="noStrike" cap="none" spc="0" baseline="0">
                <a:ln>
                  <a:noFill/>
                </a:ln>
                <a:solidFill>
                  <a:srgbClr val="FFFFFF"/>
                </a:solidFill>
                <a:latin typeface="Times New Roman"/>
                <a:ea typeface="Times New Roman"/>
                <a:cs typeface="Times New Roman"/>
              </a:rPr>
              <a:t>@SIH Idea submission- Template</a:t>
            </a:r>
            <a:endParaRPr sz="1200" b="0" i="0" u="none" strike="noStrik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6503"/>
            <a:ext cx="152442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rPr sz="1600"/>
              <a:t>HEXATECH</a:t>
            </a:r>
            <a:endParaRPr sz="1600"/>
          </a:p>
        </p:txBody>
      </p:sp>
      <p:sp>
        <p:nvSpPr>
          <p:cNvPr id="17411" name="">
            <a:extLst xmlns:a="http://schemas.openxmlformats.org/drawingml/2006/main">
              <a:ext uri="{FF2B5EF4-FFF2-40B4-BE49-F238E27FC236}">
                <a16:creationId xmlns:a16="http://schemas.microsoft.com/office/drawing/2014/main" id="{C5A60622-7386-44A7-B1D0-4E9C13EDAD93}"/>
              </a:ext>
            </a:extLst>
          </p:cNvPr>
          <p:cNvSpPr>
            <a:spLocks xmlns:a="http://schemas.openxmlformats.org/drawingml/2006/main" noGrp="1"/>
          </p:cNvSpPr>
          <p:nvPr/>
        </p:nvSpPr>
        <p:spPr>
          <a:xfrm xmlns:a="http://schemas.openxmlformats.org/drawingml/2006/main">
            <a:off x="400050" y="1228725"/>
            <a:ext cx="1114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1">
                <a:solidFill>
                  <a:srgbClr val="1F497D"/>
                </a:solidFill>
                <a:latin typeface="Arial"/>
                <a:ea typeface="Arial"/>
                <a:cs typeface="Arial"/>
              </a:defRPr>
            </a:pPr>
            <a:r>
              <a:rPr sz="2100" b="1">
                <a:solidFill>
                  <a:srgbClr val="1F497D"/>
                </a:solidFill>
                <a:latin typeface="Arial"/>
                <a:ea typeface="Arial"/>
                <a:cs typeface="Arial"/>
              </a:rPr>
              <a:t>Potential impact on the target audience</a:t>
            </a:r>
          </a:p>
        </p:txBody>
      </p:sp>
      <p:sp>
        <p:nvSpPr>
          <p:cNvPr id="17412" name="">
            <a:extLst xmlns:a="http://schemas.openxmlformats.org/drawingml/2006/main">
              <a:ext uri="{FF2B5EF4-FFF2-40B4-BE49-F238E27FC236}">
                <a16:creationId xmlns:a16="http://schemas.microsoft.com/office/drawing/2014/main" id="{6657AADA-54DE-4887-8918-31DCCEAEEDEA}"/>
              </a:ext>
            </a:extLst>
          </p:cNvPr>
          <p:cNvSpPr>
            <a:spLocks xmlns:a="http://schemas.openxmlformats.org/drawingml/2006/main" noGrp="1"/>
          </p:cNvSpPr>
          <p:nvPr/>
        </p:nvSpPr>
        <p:spPr>
          <a:xfrm xmlns:a="http://schemas.openxmlformats.org/drawingml/2006/main">
            <a:off x="400050" y="1819275"/>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F497D"/>
                </a:solidFill>
                <a:latin typeface="Arial"/>
                <a:ea typeface="Arial"/>
                <a:cs typeface="Arial"/>
              </a:defRPr>
            </a:pPr>
            <a:r>
              <a:rPr sz="1950" b="1">
                <a:solidFill>
                  <a:srgbClr val="1F497D"/>
                </a:solidFill>
                <a:latin typeface="Arial"/>
                <a:ea typeface="Arial"/>
                <a:cs typeface="Arial"/>
              </a:rPr>
              <a:t>Forecasters</a:t>
            </a:r>
          </a:p>
        </p:txBody>
      </p:sp>
      <p:sp>
        <p:nvSpPr>
          <p:cNvPr id="17413" name="">
            <a:extLst xmlns:a="http://schemas.openxmlformats.org/drawingml/2006/main">
              <a:ext uri="{FF2B5EF4-FFF2-40B4-BE49-F238E27FC236}">
                <a16:creationId xmlns:a16="http://schemas.microsoft.com/office/drawing/2014/main" id="{E2F1AF45-A945-4D6E-8315-FB38BACB9198}"/>
              </a:ext>
            </a:extLst>
          </p:cNvPr>
          <p:cNvSpPr>
            <a:spLocks xmlns:a="http://schemas.openxmlformats.org/drawingml/2006/main" noGrp="1"/>
          </p:cNvSpPr>
          <p:nvPr/>
        </p:nvSpPr>
        <p:spPr>
          <a:xfrm xmlns:a="http://schemas.openxmlformats.org/drawingml/2006/main">
            <a:off x="400050" y="2181225"/>
            <a:ext cx="5334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Inspect competing forecasts and evidence</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by location, lead time and variable.</a:t>
            </a:r>
          </a:p>
        </p:txBody>
      </p:sp>
      <p:sp>
        <p:nvSpPr>
          <p:cNvPr id="17414" name="">
            <a:extLst xmlns:a="http://schemas.openxmlformats.org/drawingml/2006/main">
              <a:ext uri="{FF2B5EF4-FFF2-40B4-BE49-F238E27FC236}">
                <a16:creationId xmlns:a16="http://schemas.microsoft.com/office/drawing/2014/main" id="{68BBA763-B8F1-4C9E-880E-2E6144E8E63B}"/>
              </a:ext>
            </a:extLst>
          </p:cNvPr>
          <p:cNvSpPr>
            <a:spLocks xmlns:a="http://schemas.openxmlformats.org/drawingml/2006/main" noGrp="1"/>
          </p:cNvSpPr>
          <p:nvPr/>
        </p:nvSpPr>
        <p:spPr>
          <a:xfrm xmlns:a="http://schemas.openxmlformats.org/drawingml/2006/main">
            <a:off x="400050" y="3133725"/>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F497D"/>
                </a:solidFill>
                <a:latin typeface="Arial"/>
                <a:ea typeface="Arial"/>
                <a:cs typeface="Arial"/>
              </a:defRPr>
            </a:pPr>
            <a:r>
              <a:rPr sz="1950" b="1">
                <a:solidFill>
                  <a:srgbClr val="1F497D"/>
                </a:solidFill>
                <a:latin typeface="Arial"/>
                <a:ea typeface="Arial"/>
                <a:cs typeface="Arial"/>
              </a:rPr>
              <a:t>Disaster managers</a:t>
            </a:r>
          </a:p>
        </p:txBody>
      </p:sp>
      <p:sp>
        <p:nvSpPr>
          <p:cNvPr id="17415" name="">
            <a:extLst xmlns:a="http://schemas.openxmlformats.org/drawingml/2006/main">
              <a:ext uri="{FF2B5EF4-FFF2-40B4-BE49-F238E27FC236}">
                <a16:creationId xmlns:a16="http://schemas.microsoft.com/office/drawing/2014/main" id="{72327160-DFFB-4506-A842-84C1FDA42E55}"/>
              </a:ext>
            </a:extLst>
          </p:cNvPr>
          <p:cNvSpPr>
            <a:spLocks xmlns:a="http://schemas.openxmlformats.org/drawingml/2006/main" noGrp="1"/>
          </p:cNvSpPr>
          <p:nvPr/>
        </p:nvSpPr>
        <p:spPr>
          <a:xfrm xmlns:a="http://schemas.openxmlformats.org/drawingml/2006/main">
            <a:off x="400050" y="3495675"/>
            <a:ext cx="5334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Use traceable forecast context alongside</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official warnings for preparedness.</a:t>
            </a:r>
          </a:p>
        </p:txBody>
      </p:sp>
      <p:sp>
        <p:nvSpPr>
          <p:cNvPr id="17416" name="">
            <a:extLst xmlns:a="http://schemas.openxmlformats.org/drawingml/2006/main">
              <a:ext uri="{FF2B5EF4-FFF2-40B4-BE49-F238E27FC236}">
                <a16:creationId xmlns:a16="http://schemas.microsoft.com/office/drawing/2014/main" id="{E132A343-BC1C-40AC-B5BE-28EB4553910F}"/>
              </a:ext>
            </a:extLst>
          </p:cNvPr>
          <p:cNvSpPr>
            <a:spLocks xmlns:a="http://schemas.openxmlformats.org/drawingml/2006/main" noGrp="1"/>
          </p:cNvSpPr>
          <p:nvPr/>
        </p:nvSpPr>
        <p:spPr>
          <a:xfrm xmlns:a="http://schemas.openxmlformats.org/drawingml/2006/main">
            <a:off x="400050" y="44577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F497D"/>
                </a:solidFill>
                <a:latin typeface="Arial"/>
                <a:ea typeface="Arial"/>
                <a:cs typeface="Arial"/>
              </a:defRPr>
            </a:pPr>
            <a:r>
              <a:rPr sz="1950" b="1">
                <a:solidFill>
                  <a:srgbClr val="1F497D"/>
                </a:solidFill>
                <a:latin typeface="Arial"/>
                <a:ea typeface="Arial"/>
                <a:cs typeface="Arial"/>
              </a:rPr>
              <a:t>Farmers and institutions</a:t>
            </a:r>
          </a:p>
        </p:txBody>
      </p:sp>
      <p:sp>
        <p:nvSpPr>
          <p:cNvPr id="17417" name="">
            <a:extLst xmlns:a="http://schemas.openxmlformats.org/drawingml/2006/main">
              <a:ext uri="{FF2B5EF4-FFF2-40B4-BE49-F238E27FC236}">
                <a16:creationId xmlns:a16="http://schemas.microsoft.com/office/drawing/2014/main" id="{D141D1D4-AE50-4CFB-A738-1DA48F7CDF41}"/>
              </a:ext>
            </a:extLst>
          </p:cNvPr>
          <p:cNvSpPr>
            <a:spLocks xmlns:a="http://schemas.openxmlformats.org/drawingml/2006/main" noGrp="1"/>
          </p:cNvSpPr>
          <p:nvPr/>
        </p:nvSpPr>
        <p:spPr>
          <a:xfrm xmlns:a="http://schemas.openxmlformats.org/drawingml/2006/main">
            <a:off x="400050" y="4819650"/>
            <a:ext cx="5334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Support weather-sensitive planning</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through reviewed, locally validated guidance.</a:t>
            </a:r>
          </a:p>
        </p:txBody>
      </p:sp>
      <p:sp>
        <p:nvSpPr>
          <p:cNvPr id="17418" name="">
            <a:extLst xmlns:a="http://schemas.openxmlformats.org/drawingml/2006/main">
              <a:ext uri="{FF2B5EF4-FFF2-40B4-BE49-F238E27FC236}">
                <a16:creationId xmlns:a16="http://schemas.microsoft.com/office/drawing/2014/main" id="{F4B4459E-BBBB-4DAA-9F18-872B3DA0DC32}"/>
              </a:ext>
            </a:extLst>
          </p:cNvPr>
          <p:cNvSpPr>
            <a:spLocks xmlns:a="http://schemas.openxmlformats.org/drawingml/2006/main" noGrp="1"/>
          </p:cNvSpPr>
          <p:nvPr/>
        </p:nvSpPr>
        <p:spPr>
          <a:xfrm xmlns:a="http://schemas.openxmlformats.org/drawingml/2006/main">
            <a:off x="6400800" y="181927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1F497D"/>
                </a:solidFill>
                <a:latin typeface="Arial"/>
                <a:ea typeface="Arial"/>
                <a:cs typeface="Arial"/>
              </a:defRPr>
            </a:pPr>
            <a:r>
              <a:rPr sz="1950" b="1">
                <a:solidFill>
                  <a:srgbClr val="1F497D"/>
                </a:solidFill>
                <a:latin typeface="Arial"/>
                <a:ea typeface="Arial"/>
                <a:cs typeface="Arial"/>
              </a:rPr>
              <a:t>Benefits of the solution</a:t>
            </a:r>
          </a:p>
        </p:txBody>
      </p:sp>
      <p:sp>
        <p:nvSpPr>
          <p:cNvPr id="17419" name="">
            <a:extLst xmlns:a="http://schemas.openxmlformats.org/drawingml/2006/main">
              <a:ext uri="{FF2B5EF4-FFF2-40B4-BE49-F238E27FC236}">
                <a16:creationId xmlns:a16="http://schemas.microsoft.com/office/drawing/2014/main" id="{BED0473A-2348-4FCA-8316-F1CA16565E60}"/>
              </a:ext>
            </a:extLst>
          </p:cNvPr>
          <p:cNvSpPr>
            <a:spLocks xmlns:a="http://schemas.openxmlformats.org/drawingml/2006/main" noGrp="1"/>
          </p:cNvSpPr>
          <p:nvPr/>
        </p:nvSpPr>
        <p:spPr>
          <a:xfrm xmlns:a="http://schemas.openxmlformats.org/drawingml/2006/main">
            <a:off x="6400800" y="2228850"/>
            <a:ext cx="533400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Social</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Clear source provenance and accessible</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preparedness resources.</a:t>
            </a:r>
          </a:p>
          <a:p xmlns:a="http://schemas.openxmlformats.org/drawingml/2006/main">
            <a:r>
              <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Economic</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Open-data prototype on modest hardware;</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less manual comparison of model outputs.</a:t>
            </a:r>
          </a:p>
          <a:p xmlns:a="http://schemas.openxmlformats.org/drawingml/2006/main">
            <a:r>
              <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Environmental</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Potential support for flood, heat and wind</a:t>
            </a:r>
          </a:p>
          <a:p xmlns:a="http://schemas.openxmlformats.org/drawingml/2006/main">
            <a:pPr>
              <a:defRPr sz="1800" b="0">
                <a:solidFill>
                  <a:srgbClr val="17202A"/>
                </a:solidFill>
                <a:latin typeface="Arial"/>
                <a:ea typeface="Arial"/>
                <a:cs typeface="Arial"/>
              </a:defRPr>
            </a:pPr>
            <a:r>
              <a:rPr sz="1800" b="0">
                <a:solidFill>
                  <a:srgbClr val="17202A"/>
                </a:solidFill>
                <a:latin typeface="Arial"/>
                <a:ea typeface="Arial"/>
                <a:cs typeface="Arial"/>
              </a:rPr>
              <a:t>preparedness after local validation.</a:t>
            </a:r>
          </a:p>
        </p:txBody>
      </p:sp>
      <p:sp>
        <p:nvSpPr>
          <p:cNvPr id="17420" name="">
            <a:extLst xmlns:a="http://schemas.openxmlformats.org/drawingml/2006/main">
              <a:ext uri="{FF2B5EF4-FFF2-40B4-BE49-F238E27FC236}">
                <a16:creationId xmlns:a16="http://schemas.microsoft.com/office/drawing/2014/main" id="{2A66137A-0927-4B32-9D97-8A3EA06DAF84}"/>
              </a:ext>
            </a:extLst>
          </p:cNvPr>
          <p:cNvSpPr>
            <a:spLocks xmlns:a="http://schemas.openxmlformats.org/drawingml/2006/main" noGrp="1"/>
          </p:cNvSpPr>
          <p:nvPr/>
        </p:nvSpPr>
        <p:spPr>
          <a:xfrm xmlns:a="http://schemas.openxmlformats.org/drawingml/2006/main">
            <a:off x="400050" y="5781675"/>
            <a:ext cx="1133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F497D"/>
                </a:solidFill>
                <a:latin typeface="Arial"/>
                <a:ea typeface="Arial"/>
                <a:cs typeface="Arial"/>
              </a:defRPr>
            </a:pPr>
            <a:r>
              <a:rPr sz="1575" b="1">
                <a:solidFill>
                  <a:srgbClr val="1F497D"/>
                </a:solidFill>
                <a:latin typeface="Arial"/>
                <a:ea typeface="Arial"/>
                <a:cs typeface="Arial"/>
              </a:rPr>
              <a:t>Expected benefits; no measured reduction in losses or validated operational advantage claimed.</a:t>
            </a:r>
          </a:p>
        </p:txBody>
      </p:sp>
      <p:pic xmlns:a="http://schemas.openxmlformats.org/drawingml/2006/main" xmlns:r="http://schemas.openxmlformats.org/officeDocument/2006/relationships">
        <p:nvPicPr>
          <p:cNvPr id="90005" name="SIH template logo 5"/>
          <p:cNvPicPr>
            <a:picLocks noChangeAspect="1"/>
          </p:cNvPicPr>
          <p:nvPr/>
        </p:nvPicPr>
        <p:blipFill>
          <a:blip r:embed="rIdTemplateLogo5"/>
          <a:stretch>
            <a:fillRect/>
          </a:stretch>
        </p:blipFill>
        <p:spPr>
          <a:xfrm>
            <a:off x="9780086" y="1500"/>
            <a:ext cx="2249850" cy="1062337"/>
          </a:xfrm>
          <a:prstGeom prst="rect">
            <a:avLst/>
          </a:prstGeom>
        </p:spPr>
      </p:pic>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miter/>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strike="noStrik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1F033855-A8BA-4589-A9AB-67E32ABDC9D6}"/>
              </a:ext>
            </a:extLst>
          </p:cNvPr>
          <p:cNvSpPr>
            <a:spLocks xmlns:a="http://schemas.openxmlformats.org/drawingml/2006/main" noGrp="1"/>
          </p:cNvSpPr>
          <p:nvPr>
            <p:ph type="title" idx="0"/>
          </p:nvPr>
        </p:nvSpPr>
        <p:spPr>
          <a:xfrm xmlns:a="http://schemas.openxmlformats.org/drawingml/2006/main">
            <a:off x="2076450" y="209550"/>
            <a:ext cx="7620000" cy="857250"/>
          </a:xfrm>
        </p:spPr>
        <p:txBody>
          <a:bodyPr xmlns:a="http://schemas.openxmlformats.org/drawingml/2006/main" anchor="ctr"/>
          <a:lstStyle xmlns:a="http://schemas.openxmlformats.org/drawingml/2006/main"/>
          <a:p xmlns:a="http://schemas.openxmlformats.org/drawingml/2006/main">
            <a:pPr algn="ctr">
              <a:buNone/>
              <a:defRPr sz="3225" b="1">
                <a:solidFill>
                  <a:srgbClr val="000000"/>
                </a:solidFill>
                <a:latin typeface="Times New Roman"/>
                <a:ea typeface="Times New Roman"/>
                <a:cs typeface="Times New Roman"/>
              </a:defRPr>
            </a:pPr>
            <a:r>
              <a:rPr sz="3225"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73687D9F-F53D-4B17-BD81-596EDB7D11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defRPr sz="1200">
                <a:solidFill>
                  <a:srgbClr val="FFFFFF"/>
                </a:solidFill>
                <a:latin typeface="Times New Roman"/>
                <a:ea typeface="Times New Roman"/>
                <a:cs typeface="Times New Roman"/>
              </a:defRPr>
            </a:pPr>
            <a:fld id="{677C3CE7-23F7-4828-823C-E0205DF2CF97}" type="slidenum">
              <a:rPr sz="1200" b="1" i="0" u="none" strike="noStrike" cap="none" spc="0" baseline="0">
                <a:ln>
                  <a:noFill/>
                </a:ln>
                <a:solidFill>
                  <a:srgbClr val="FFFFFF"/>
                </a:solidFill>
                <a:latin typeface="Times New Roman"/>
                <a:ea typeface="Times New Roman"/>
                <a:cs typeface="Times New Roman"/>
              </a:rPr>
              <a:t>6</a:t>
            </a:fld>
            <a:endParaRPr sz="1200" b="1" i="0" u="none" strike="noStrik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D653DEE1-750C-4AC4-B56F-BD3D155C5E0A}"/>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defRPr sz="1200">
                <a:solidFill>
                  <a:srgbClr val="FFFFFF"/>
                </a:solidFill>
                <a:latin typeface="Times New Roman"/>
                <a:ea typeface="Times New Roman"/>
                <a:cs typeface="Times New Roman"/>
              </a:defRPr>
            </a:pPr>
            <a:r>
              <a:rPr sz="1200" b="0" i="0" u="none" strike="noStrike" cap="none" spc="0" baseline="0">
                <a:ln>
                  <a:noFill/>
                </a:ln>
                <a:solidFill>
                  <a:srgbClr val="FFFFFF"/>
                </a:solidFill>
                <a:latin typeface="Times New Roman"/>
                <a:ea typeface="Times New Roman"/>
                <a:cs typeface="Times New Roman"/>
              </a:rPr>
              <a:t>@SIH Idea submission- Template</a:t>
            </a:r>
            <a:endParaRPr sz="1200" b="0" i="0" u="none" strike="noStrik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245106" y="252246"/>
            <a:ext cx="1515961"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pPr>
            <a:r>
              <a:rPr sz="1600"/>
              <a:t>HEXATECH</a:t>
            </a:r>
            <a:endParaRPr sz="1600"/>
          </a:p>
        </p:txBody>
      </p:sp>
      <p:sp>
        <p:nvSpPr>
          <p:cNvPr id="17411" name="">
            <a:extLst xmlns:a="http://schemas.openxmlformats.org/drawingml/2006/main">
              <a:ext uri="{FF2B5EF4-FFF2-40B4-BE49-F238E27FC236}">
                <a16:creationId xmlns:a16="http://schemas.microsoft.com/office/drawing/2014/main" id="{FF75EC3B-2326-4B1D-920F-5EC8F53F2629}"/>
              </a:ext>
            </a:extLst>
          </p:cNvPr>
          <p:cNvSpPr>
            <a:spLocks xmlns:a="http://schemas.openxmlformats.org/drawingml/2006/main" noGrp="1"/>
          </p:cNvSpPr>
          <p:nvPr/>
        </p:nvSpPr>
        <p:spPr>
          <a:xfrm xmlns:a="http://schemas.openxmlformats.org/drawingml/2006/main">
            <a:off x="400050" y="12001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F497D"/>
                </a:solidFill>
                <a:latin typeface="Arial"/>
                <a:ea typeface="Arial"/>
                <a:cs typeface="Arial"/>
              </a:defRPr>
            </a:pPr>
            <a:r>
              <a:rPr sz="2025" b="1">
                <a:solidFill>
                  <a:srgbClr val="1F497D"/>
                </a:solidFill>
                <a:latin typeface="Arial"/>
                <a:ea typeface="Arial"/>
                <a:cs typeface="Arial"/>
              </a:rPr>
              <a:t>Historical temperature result: 10.9% lower CRPS</a:t>
            </a:r>
          </a:p>
        </p:txBody>
      </p:sp>
      <p:sp>
        <p:nvSpPr>
          <p:cNvPr id="17412" name="">
            <a:extLst xmlns:a="http://schemas.openxmlformats.org/drawingml/2006/main">
              <a:ext uri="{FF2B5EF4-FFF2-40B4-BE49-F238E27FC236}">
                <a16:creationId xmlns:a16="http://schemas.microsoft.com/office/drawing/2014/main" id="{475A07C3-8BAB-431B-A739-657C4A45CD6A}"/>
              </a:ext>
            </a:extLst>
          </p:cNvPr>
          <p:cNvSpPr>
            <a:spLocks xmlns:a="http://schemas.openxmlformats.org/drawingml/2006/main" noGrp="1"/>
          </p:cNvSpPr>
          <p:nvPr/>
        </p:nvSpPr>
        <p:spPr>
          <a:xfrm xmlns:a="http://schemas.openxmlformats.org/drawingml/2006/main">
            <a:off x="400050" y="1609725"/>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7202A"/>
                </a:solidFill>
                <a:latin typeface="Arial"/>
                <a:ea typeface="Arial"/>
                <a:cs typeface="Arial"/>
              </a:defRPr>
            </a:pPr>
            <a:r>
              <a:rPr sz="1725" b="0">
                <a:solidFill>
                  <a:srgbClr val="17202A"/>
                </a:solidFill>
                <a:latin typeface="Arial"/>
                <a:ea typeface="Arial"/>
                <a:cs typeface="Arial"/>
              </a:rPr>
              <a:t>WeatherBench 2 IFS-HRES + Pangu against ERA5, India-region bounding box.</a:t>
            </a:r>
          </a:p>
          <a:p xmlns:a="http://schemas.openxmlformats.org/drawingml/2006/main">
            <a:pPr>
              <a:defRPr sz="1725" b="0">
                <a:solidFill>
                  <a:srgbClr val="17202A"/>
                </a:solidFill>
                <a:latin typeface="Arial"/>
                <a:ea typeface="Arial"/>
                <a:cs typeface="Arial"/>
              </a:defRPr>
            </a:pPr>
            <a:r>
              <a:rPr sz="1725" b="0">
                <a:solidFill>
                  <a:srgbClr val="17202A"/>
                </a:solidFill>
                <a:latin typeface="Arial"/>
                <a:ea typeface="Arial"/>
                <a:cs typeface="Arial"/>
              </a:rPr>
              <a:t>Adaptive 0.5494 °C vs equal mixture 0.6164 °C. 36 held-out 2022 initializations.</a:t>
            </a:r>
          </a:p>
        </p:txBody>
      </p:sp>
      <p:sp>
        <p:nvSpPr>
          <p:cNvPr id="17413" name="">
            <a:extLst xmlns:a="http://schemas.openxmlformats.org/drawingml/2006/main">
              <a:ext uri="{FF2B5EF4-FFF2-40B4-BE49-F238E27FC236}">
                <a16:creationId xmlns:a16="http://schemas.microsoft.com/office/drawing/2014/main" id="{EAB37F4C-EBFC-4161-A88A-1566D8623B18}"/>
              </a:ext>
            </a:extLst>
          </p:cNvPr>
          <p:cNvSpPr>
            <a:spLocks xmlns:a="http://schemas.openxmlformats.org/drawingml/2006/main" noGrp="1"/>
          </p:cNvSpPr>
          <p:nvPr/>
        </p:nvSpPr>
        <p:spPr>
          <a:xfrm xmlns:a="http://schemas.openxmlformats.org/drawingml/2006/main">
            <a:off x="400050" y="2247900"/>
            <a:ext cx="1133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17202A"/>
                </a:solidFill>
                <a:latin typeface="Arial"/>
                <a:ea typeface="Arial"/>
                <a:cs typeface="Arial"/>
              </a:defRPr>
            </a:pPr>
            <a:r>
              <a:rPr sz="1500" b="0">
                <a:solidFill>
                  <a:srgbClr val="17202A"/>
                </a:solidFill>
                <a:latin typeface="Arial"/>
                <a:ea typeface="Arial"/>
                <a:cs typeface="Arial"/>
              </a:rPr>
              <a:t>Retrospective temperature experiment. ERA5 is reanalysis. Results do not establish</a:t>
            </a:r>
          </a:p>
          <a:p xmlns:a="http://schemas.openxmlformats.org/drawingml/2006/main">
            <a:pPr>
              <a:defRPr sz="1500" b="0">
                <a:solidFill>
                  <a:srgbClr val="17202A"/>
                </a:solidFill>
                <a:latin typeface="Arial"/>
                <a:ea typeface="Arial"/>
                <a:cs typeface="Arial"/>
              </a:defRPr>
            </a:pPr>
            <a:r>
              <a:rPr sz="1500" b="0">
                <a:solidFill>
                  <a:srgbClr val="17202A"/>
                </a:solidFill>
                <a:latin typeface="Arial"/>
                <a:ea typeface="Arial"/>
                <a:cs typeface="Arial"/>
              </a:rPr>
              <a:t>operational rainfall, wind or extreme-event superiority.</a:t>
            </a:r>
          </a:p>
        </p:txBody>
      </p:sp>
      <p:sp>
        <p:nvSpPr>
          <p:cNvPr id="17414" name="">
            <a:extLst xmlns:a="http://schemas.openxmlformats.org/drawingml/2006/main">
              <a:ext uri="{FF2B5EF4-FFF2-40B4-BE49-F238E27FC236}">
                <a16:creationId xmlns:a16="http://schemas.microsoft.com/office/drawing/2014/main" id="{EC423CF2-40F1-4BA1-AF8D-07C9E58ACACD}"/>
              </a:ext>
            </a:extLst>
          </p:cNvPr>
          <p:cNvSpPr>
            <a:spLocks xmlns:a="http://schemas.openxmlformats.org/drawingml/2006/main" noGrp="1"/>
          </p:cNvSpPr>
          <p:nvPr/>
        </p:nvSpPr>
        <p:spPr>
          <a:xfrm xmlns:a="http://schemas.openxmlformats.org/drawingml/2006/main">
            <a:off x="400050" y="2914650"/>
            <a:ext cx="1133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1F497D"/>
                </a:solidFill>
                <a:latin typeface="Arial"/>
                <a:ea typeface="Arial"/>
                <a:cs typeface="Arial"/>
              </a:defRPr>
            </a:pPr>
            <a:r>
              <a:rPr sz="2025" b="1">
                <a:solidFill>
                  <a:srgbClr val="1F497D"/>
                </a:solidFill>
                <a:latin typeface="Arial"/>
                <a:ea typeface="Arial"/>
                <a:cs typeface="Arial"/>
              </a:rPr>
              <a:t>Preliminary rainfall shadow evaluation: +24 h</a:t>
            </a:r>
          </a:p>
        </p:txBody>
      </p:sp>
      <p:sp>
        <p:nvSpPr>
          <p:cNvPr id="17415" name="">
            <a:extLst xmlns:a="http://schemas.openxmlformats.org/drawingml/2006/main">
              <a:ext uri="{FF2B5EF4-FFF2-40B4-BE49-F238E27FC236}">
                <a16:creationId xmlns:a16="http://schemas.microsoft.com/office/drawing/2014/main" id="{C0985931-E645-4E4D-ADD5-2657F62CD3D9}"/>
              </a:ext>
            </a:extLst>
          </p:cNvPr>
          <p:cNvSpPr>
            <a:spLocks xmlns:a="http://schemas.openxmlformats.org/drawingml/2006/main" noGrp="1"/>
          </p:cNvSpPr>
          <p:nvPr/>
        </p:nvSpPr>
        <p:spPr>
          <a:xfrm xmlns:a="http://schemas.openxmlformats.org/drawingml/2006/main">
            <a:off x="400050" y="331470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17202A"/>
                </a:solidFill>
                <a:latin typeface="Arial"/>
                <a:ea typeface="Arial"/>
                <a:cs typeface="Arial"/>
              </a:defRPr>
            </a:pPr>
            <a:r>
              <a:rPr sz="1725" b="0">
                <a:solidFill>
                  <a:srgbClr val="17202A"/>
                </a:solidFill>
                <a:latin typeface="Arial"/>
                <a:ea typeface="Arial"/>
                <a:cs typeface="Arial"/>
              </a:rPr>
              <a:t>GFS / GEFS / IFS / AIFS. CRPS against CMORPH: 1.737 vs 1.811 (4.1% lower).</a:t>
            </a:r>
          </a:p>
          <a:p xmlns:a="http://schemas.openxmlformats.org/drawingml/2006/main">
            <a:pPr>
              <a:defRPr sz="1725" b="0">
                <a:solidFill>
                  <a:srgbClr val="17202A"/>
                </a:solidFill>
                <a:latin typeface="Arial"/>
                <a:ea typeface="Arial"/>
                <a:cs typeface="Arial"/>
              </a:defRPr>
            </a:pPr>
            <a:r>
              <a:rPr sz="1725" b="0">
                <a:solidFill>
                  <a:srgbClr val="17202A"/>
                </a:solidFill>
                <a:latin typeface="Arial"/>
                <a:ea typeface="Arial"/>
                <a:cs typeface="Arial"/>
              </a:rPr>
              <a:t>IMERG cross-reference: 1.549 vs 1.630 (5.0% lower). Adaptive vs equal weighting.</a:t>
            </a:r>
          </a:p>
        </p:txBody>
      </p:sp>
      <p:sp>
        <p:nvSpPr>
          <p:cNvPr id="17416" name="">
            <a:extLst xmlns:a="http://schemas.openxmlformats.org/drawingml/2006/main">
              <a:ext uri="{FF2B5EF4-FFF2-40B4-BE49-F238E27FC236}">
                <a16:creationId xmlns:a16="http://schemas.microsoft.com/office/drawing/2014/main" id="{7E9389ED-81F4-437E-B585-C2EEACBDD81B}"/>
              </a:ext>
            </a:extLst>
          </p:cNvPr>
          <p:cNvSpPr>
            <a:spLocks xmlns:a="http://schemas.openxmlformats.org/drawingml/2006/main" noGrp="1"/>
          </p:cNvSpPr>
          <p:nvPr/>
        </p:nvSpPr>
        <p:spPr>
          <a:xfrm xmlns:a="http://schemas.openxmlformats.org/drawingml/2006/main">
            <a:off x="400050" y="3962400"/>
            <a:ext cx="1133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1">
                <a:solidFill>
                  <a:srgbClr val="1F497D"/>
                </a:solidFill>
                <a:latin typeface="Arial"/>
                <a:ea typeface="Arial"/>
                <a:cs typeface="Arial"/>
              </a:defRPr>
            </a:pPr>
            <a:r>
              <a:rPr sz="1575" b="1">
                <a:solidFill>
                  <a:srgbClr val="1F497D"/>
                </a:solidFill>
                <a:latin typeface="Arial"/>
                <a:ea typeface="Arial"/>
                <a:cs typeface="Arial"/>
              </a:rPr>
              <a:t>Only 2 held-out event blocks. Experimental candidate, not deployed.</a:t>
            </a:r>
          </a:p>
          <a:p xmlns:a="http://schemas.openxmlformats.org/drawingml/2006/main">
            <a:pPr>
              <a:defRPr sz="1575" b="1">
                <a:solidFill>
                  <a:srgbClr val="1F497D"/>
                </a:solidFill>
                <a:latin typeface="Arial"/>
                <a:ea typeface="Arial"/>
                <a:cs typeface="Arial"/>
              </a:defRPr>
            </a:pPr>
            <a:r>
              <a:rPr sz="1575" b="1">
                <a:solidFill>
                  <a:srgbClr val="1F497D"/>
                </a:solidFill>
                <a:latin typeface="Arial"/>
                <a:ea typeface="Arial"/>
                <a:cs typeface="Arial"/>
              </a:rPr>
              <a:t>Lower CRPS indicates better probabilistic performance. Production gates remain unmet.</a:t>
            </a:r>
          </a:p>
        </p:txBody>
      </p:sp>
      <p:sp>
        <p:nvSpPr>
          <p:cNvPr id="17417" name="">
            <a:extLst xmlns:a="http://schemas.openxmlformats.org/drawingml/2006/main">
              <a:ext uri="{FF2B5EF4-FFF2-40B4-BE49-F238E27FC236}">
                <a16:creationId xmlns:a16="http://schemas.microsoft.com/office/drawing/2014/main" id="{4FD07FB6-ED72-4AFF-804C-9B46D0428844}"/>
              </a:ext>
            </a:extLst>
          </p:cNvPr>
          <p:cNvSpPr>
            <a:spLocks xmlns:a="http://schemas.openxmlformats.org/drawingml/2006/main" noGrp="1"/>
          </p:cNvSpPr>
          <p:nvPr/>
        </p:nvSpPr>
        <p:spPr>
          <a:xfrm xmlns:a="http://schemas.openxmlformats.org/drawingml/2006/main">
            <a:off x="400050" y="4705350"/>
            <a:ext cx="11334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17202A"/>
                </a:solidFill>
                <a:latin typeface="Arial"/>
                <a:ea typeface="Arial"/>
                <a:cs typeface="Arial"/>
              </a:defRPr>
            </a:pPr>
            <a:r>
              <a:rPr sz="1575" b="0">
                <a:solidFill>
                  <a:srgbClr val="17202A"/>
                </a:solidFill>
                <a:latin typeface="Arial"/>
                <a:ea typeface="Arial"/>
                <a:cs typeface="Arial"/>
              </a:rPr>
              <a:t>References: NOAA / ECMWF / WeatherBench 2 / CMORPH / NASA IMERG / IMD / MOSDAC</a:t>
            </a:r>
          </a:p>
          <a:p xmlns:a="http://schemas.openxmlformats.org/drawingml/2006/main">
            <a:pPr>
              <a:defRPr sz="1575" b="0">
                <a:solidFill>
                  <a:srgbClr val="17202A"/>
                </a:solidFill>
                <a:latin typeface="Arial"/>
                <a:ea typeface="Arial"/>
                <a:cs typeface="Arial"/>
              </a:defRPr>
            </a:pPr>
            <a:r>
              <a:rPr sz="1575" b="0">
                <a:solidFill>
                  <a:srgbClr val="17202A"/>
                </a:solidFill>
                <a:latin typeface="Arial"/>
                <a:ea typeface="Arial"/>
                <a:cs typeface="Arial"/>
                <a:hlinkClick xmlns:ns0="http://schemas.openxmlformats.org/officeDocument/2006/relationships" ns0:id="rIdLink3"/>
              </a:rPr>
              <a:t>Full source links and methodology: https://mausamsetu-mauve.vercel.app/sih</a:t>
            </a:r>
          </a:p>
        </p:txBody>
      </p:sp>
      <p:sp>
        <p:nvSpPr>
          <p:cNvPr id="17418" name="">
            <a:extLst xmlns:a="http://schemas.openxmlformats.org/drawingml/2006/main">
              <a:ext uri="{FF2B5EF4-FFF2-40B4-BE49-F238E27FC236}">
                <a16:creationId xmlns:a16="http://schemas.microsoft.com/office/drawing/2014/main" id="{2F5551ED-4A5F-48FB-99D3-B13D62989F16}"/>
              </a:ext>
            </a:extLst>
          </p:cNvPr>
          <p:cNvSpPr>
            <a:spLocks xmlns:a="http://schemas.openxmlformats.org/drawingml/2006/main" noGrp="1"/>
          </p:cNvSpPr>
          <p:nvPr/>
        </p:nvSpPr>
        <p:spPr>
          <a:xfrm xmlns:a="http://schemas.openxmlformats.org/drawingml/2006/main">
            <a:off x="400050" y="5610225"/>
            <a:ext cx="11382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F497D"/>
                </a:solidFill>
                <a:latin typeface="Arial"/>
                <a:ea typeface="Arial"/>
                <a:cs typeface="Arial"/>
              </a:defRPr>
            </a:pPr>
            <a:r>
              <a:rPr sz="1725" b="1">
                <a:solidFill>
                  <a:srgbClr val="1F497D"/>
                </a:solidFill>
                <a:latin typeface="Arial"/>
                <a:ea typeface="Arial"/>
                <a:cs typeface="Arial"/>
                <a:hlinkClick xmlns:ns1="http://schemas.openxmlformats.org/officeDocument/2006/relationships" ns1:id="rIdLink4"/>
              </a:rPr>
              <a:t>Live prototype and evidence: https://mausamsetu-mauve.vercel.app/sih</a:t>
            </a:r>
          </a:p>
        </p:txBody>
      </p:sp>
      <p:sp>
        <p:nvSpPr>
          <p:cNvPr id="17419" name="">
            <a:extLst xmlns:a="http://schemas.openxmlformats.org/drawingml/2006/main">
              <a:ext uri="{FF2B5EF4-FFF2-40B4-BE49-F238E27FC236}">
                <a16:creationId xmlns:a16="http://schemas.microsoft.com/office/drawing/2014/main" id="{267F6266-70C5-45E5-AB86-024DAA5C5CF9}"/>
              </a:ext>
            </a:extLst>
          </p:cNvPr>
          <p:cNvSpPr>
            <a:spLocks xmlns:a="http://schemas.openxmlformats.org/drawingml/2006/main" noGrp="1"/>
          </p:cNvSpPr>
          <p:nvPr/>
        </p:nvSpPr>
        <p:spPr>
          <a:xfrm xmlns:a="http://schemas.openxmlformats.org/drawingml/2006/main">
            <a:off x="400050" y="5962650"/>
            <a:ext cx="11382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1">
                <a:solidFill>
                  <a:srgbClr val="1F497D"/>
                </a:solidFill>
                <a:latin typeface="Arial"/>
                <a:ea typeface="Arial"/>
                <a:cs typeface="Arial"/>
              </a:defRPr>
            </a:pPr>
            <a:r>
              <a:rPr sz="1725" b="1">
                <a:solidFill>
                  <a:srgbClr val="1F497D"/>
                </a:solidFill>
                <a:latin typeface="Arial"/>
                <a:ea typeface="Arial"/>
                <a:cs typeface="Arial"/>
                <a:hlinkClick xmlns:ns2="http://schemas.openxmlformats.org/officeDocument/2006/relationships" ns2:id="rIdLink5"/>
              </a:rPr>
              <a:t>Source code: https://github.com/Jaydeng75/mausamsetu</a:t>
            </a:r>
          </a:p>
        </p:txBody>
      </p:sp>
      <p:pic xmlns:a="http://schemas.openxmlformats.org/drawingml/2006/main" xmlns:r="http://schemas.openxmlformats.org/officeDocument/2006/relationships">
        <p:nvPicPr>
          <p:cNvPr id="90006" name="SIH template logo 6"/>
          <p:cNvPicPr>
            <a:picLocks noChangeAspect="1"/>
          </p:cNvPicPr>
          <p:nvPr/>
        </p:nvPicPr>
        <p:blipFill>
          <a:blip r:embed="rIdTemplateLogo6"/>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2026-09-30T17:36:23.0400000Z</dcterms:created>
  <dcterms:modified xsi:type="dcterms:W3CDTF">2026-09-30T17:36:23.0400000Z</dcterms:modified>
</coreProperties>
</file>